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Medium"/>
      <p:regular r:id="rId24"/>
      <p:bold r:id="rId25"/>
      <p:italic r:id="rId26"/>
      <p:boldItalic r:id="rId27"/>
    </p:embeddedFont>
    <p:embeddedFont>
      <p:font typeface="Roboto"/>
      <p:regular r:id="rId28"/>
      <p:bold r:id="rId29"/>
      <p:italic r:id="rId30"/>
      <p:boldItalic r:id="rId31"/>
    </p:embeddedFont>
    <p:embeddedFont>
      <p:font typeface="Roboto Light"/>
      <p:regular r:id="rId32"/>
      <p:bold r:id="rId33"/>
      <p:italic r:id="rId34"/>
      <p:boldItalic r:id="rId35"/>
    </p:embeddedFont>
    <p:embeddedFont>
      <p:font typeface="Merriweath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Medium-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Medium-italic.fntdata"/><Relationship Id="rId25" Type="http://schemas.openxmlformats.org/officeDocument/2006/relationships/font" Target="fonts/RobotoMedium-bold.fntdata"/><Relationship Id="rId28" Type="http://schemas.openxmlformats.org/officeDocument/2006/relationships/font" Target="fonts/Roboto-regular.fntdata"/><Relationship Id="rId27" Type="http://schemas.openxmlformats.org/officeDocument/2006/relationships/font" Target="fonts/Roboto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33" Type="http://schemas.openxmlformats.org/officeDocument/2006/relationships/font" Target="fonts/RobotoLight-bold.fntdata"/><Relationship Id="rId10" Type="http://schemas.openxmlformats.org/officeDocument/2006/relationships/slide" Target="slides/slide4.xml"/><Relationship Id="rId32" Type="http://schemas.openxmlformats.org/officeDocument/2006/relationships/font" Target="fonts/RobotoLight-regular.fntdata"/><Relationship Id="rId13" Type="http://schemas.openxmlformats.org/officeDocument/2006/relationships/slide" Target="slides/slide7.xml"/><Relationship Id="rId35" Type="http://schemas.openxmlformats.org/officeDocument/2006/relationships/font" Target="fonts/RobotoLight-boldItalic.fntdata"/><Relationship Id="rId12" Type="http://schemas.openxmlformats.org/officeDocument/2006/relationships/slide" Target="slides/slide6.xml"/><Relationship Id="rId34" Type="http://schemas.openxmlformats.org/officeDocument/2006/relationships/font" Target="fonts/RobotoLight-italic.fntdata"/><Relationship Id="rId15" Type="http://schemas.openxmlformats.org/officeDocument/2006/relationships/slide" Target="slides/slide9.xml"/><Relationship Id="rId37" Type="http://schemas.openxmlformats.org/officeDocument/2006/relationships/font" Target="fonts/Merriweather-bold.fntdata"/><Relationship Id="rId14" Type="http://schemas.openxmlformats.org/officeDocument/2006/relationships/slide" Target="slides/slide8.xml"/><Relationship Id="rId36" Type="http://schemas.openxmlformats.org/officeDocument/2006/relationships/font" Target="fonts/Merriweather-regular.fntdata"/><Relationship Id="rId17" Type="http://schemas.openxmlformats.org/officeDocument/2006/relationships/slide" Target="slides/slide11.xml"/><Relationship Id="rId39" Type="http://schemas.openxmlformats.org/officeDocument/2006/relationships/font" Target="fonts/Merriweather-boldItalic.fntdata"/><Relationship Id="rId16" Type="http://schemas.openxmlformats.org/officeDocument/2006/relationships/slide" Target="slides/slide10.xml"/><Relationship Id="rId38" Type="http://schemas.openxmlformats.org/officeDocument/2006/relationships/font" Target="fonts/Merriweath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35390baa9f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35390baa9f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35390baa9f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35390baa9f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330c3a89e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330c3a89e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Light"/>
              <a:ea typeface="Roboto Light"/>
              <a:cs typeface="Roboto Light"/>
              <a:sym typeface="Roboto Light"/>
            </a:endParaRPr>
          </a:p>
          <a:p>
            <a:pPr indent="0" lvl="0" marL="0" rtl="0" algn="l">
              <a:spcBef>
                <a:spcPts val="0"/>
              </a:spcBef>
              <a:spcAft>
                <a:spcPts val="0"/>
              </a:spcAft>
              <a:buNone/>
            </a:pPr>
            <a:r>
              <a:t/>
            </a:r>
            <a:endParaRPr>
              <a:latin typeface="Roboto Light"/>
              <a:ea typeface="Roboto Light"/>
              <a:cs typeface="Roboto Light"/>
              <a:sym typeface="Roboto 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30c3a89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330c3a89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Roboto Light"/>
              <a:buAutoNum type="arabicPeriod"/>
            </a:pPr>
            <a:r>
              <a:rPr lang="en">
                <a:latin typeface="Roboto Light"/>
                <a:ea typeface="Roboto Light"/>
                <a:cs typeface="Roboto Light"/>
                <a:sym typeface="Roboto Light"/>
              </a:rPr>
              <a:t>As our #1 value states, People First, we should first check in on how our people are doing. This impacts our work and checking in on where someone is can influence the rest of the conversation.</a:t>
            </a:r>
            <a:endParaRPr>
              <a:latin typeface="Roboto Light"/>
              <a:ea typeface="Roboto Light"/>
              <a:cs typeface="Roboto Light"/>
              <a:sym typeface="Roboto Light"/>
            </a:endParaRPr>
          </a:p>
          <a:p>
            <a:pPr indent="-298450" lvl="0" marL="457200" rtl="0" algn="l">
              <a:spcBef>
                <a:spcPts val="0"/>
              </a:spcBef>
              <a:spcAft>
                <a:spcPts val="0"/>
              </a:spcAft>
              <a:buSzPts val="1100"/>
              <a:buFont typeface="Roboto Light"/>
              <a:buAutoNum type="arabicPeriod"/>
            </a:pPr>
            <a:r>
              <a:rPr lang="en">
                <a:latin typeface="Roboto Light"/>
                <a:ea typeface="Roboto Light"/>
                <a:cs typeface="Roboto Light"/>
                <a:sym typeface="Roboto Light"/>
              </a:rPr>
              <a:t>Checking in on OKR’s using Lattice Grow and connecting them to 1:1s to drive accountability, performance conversations ASAP, to get help to everyone so they can be set up for success to </a:t>
            </a:r>
            <a:r>
              <a:rPr lang="en">
                <a:latin typeface="Roboto Light"/>
                <a:ea typeface="Roboto Light"/>
                <a:cs typeface="Roboto Light"/>
                <a:sym typeface="Roboto Light"/>
              </a:rPr>
              <a:t>reach their OKRs</a:t>
            </a:r>
            <a:endParaRPr>
              <a:latin typeface="Roboto Light"/>
              <a:ea typeface="Roboto Light"/>
              <a:cs typeface="Roboto Light"/>
              <a:sym typeface="Roboto Light"/>
            </a:endParaRPr>
          </a:p>
          <a:p>
            <a:pPr indent="-298450" lvl="0" marL="457200" rtl="0" algn="l">
              <a:spcBef>
                <a:spcPts val="0"/>
              </a:spcBef>
              <a:spcAft>
                <a:spcPts val="0"/>
              </a:spcAft>
              <a:buSzPts val="1100"/>
              <a:buFont typeface="Roboto Light"/>
              <a:buAutoNum type="arabicPeriod"/>
            </a:pPr>
            <a:r>
              <a:rPr lang="en">
                <a:latin typeface="Roboto Light"/>
                <a:ea typeface="Roboto Light"/>
                <a:cs typeface="Roboto Light"/>
                <a:sym typeface="Roboto Light"/>
              </a:rPr>
              <a:t>What is getting in the way of them accomplishing what they’ve set for themselves</a:t>
            </a:r>
            <a:endParaRPr>
              <a:latin typeface="Roboto Light"/>
              <a:ea typeface="Roboto Light"/>
              <a:cs typeface="Roboto Light"/>
              <a:sym typeface="Roboto Light"/>
            </a:endParaRPr>
          </a:p>
          <a:p>
            <a:pPr indent="-298450" lvl="0" marL="457200" rtl="0" algn="l">
              <a:spcBef>
                <a:spcPts val="0"/>
              </a:spcBef>
              <a:spcAft>
                <a:spcPts val="0"/>
              </a:spcAft>
              <a:buSzPts val="1100"/>
              <a:buFont typeface="Roboto Light"/>
              <a:buAutoNum type="arabicPeriod"/>
            </a:pPr>
            <a:r>
              <a:rPr lang="en">
                <a:latin typeface="Roboto Light"/>
                <a:ea typeface="Roboto Light"/>
                <a:cs typeface="Roboto Light"/>
                <a:sym typeface="Roboto Light"/>
              </a:rPr>
              <a:t>We need to get the the habit of exchanging feedback and having a prompt will hopefully be a trigger to share in a </a:t>
            </a:r>
            <a:r>
              <a:rPr lang="en">
                <a:latin typeface="Roboto Light"/>
                <a:ea typeface="Roboto Light"/>
                <a:cs typeface="Roboto Light"/>
                <a:sym typeface="Roboto Light"/>
              </a:rPr>
              <a:t>specific</a:t>
            </a:r>
            <a:r>
              <a:rPr lang="en">
                <a:latin typeface="Roboto Light"/>
                <a:ea typeface="Roboto Light"/>
                <a:cs typeface="Roboto Light"/>
                <a:sym typeface="Roboto Light"/>
              </a:rPr>
              <a:t> way</a:t>
            </a:r>
            <a:endParaRPr>
              <a:latin typeface="Roboto Light"/>
              <a:ea typeface="Roboto Light"/>
              <a:cs typeface="Roboto Light"/>
              <a:sym typeface="Roboto Light"/>
            </a:endParaRPr>
          </a:p>
          <a:p>
            <a:pPr indent="-298450" lvl="0" marL="457200" rtl="0" algn="l">
              <a:spcBef>
                <a:spcPts val="0"/>
              </a:spcBef>
              <a:spcAft>
                <a:spcPts val="0"/>
              </a:spcAft>
              <a:buSzPts val="1100"/>
              <a:buFont typeface="Roboto Light"/>
              <a:buAutoNum type="arabicPeriod"/>
            </a:pPr>
            <a:r>
              <a:rPr lang="en">
                <a:latin typeface="Roboto Light"/>
                <a:ea typeface="Roboto Light"/>
                <a:cs typeface="Roboto Light"/>
                <a:sym typeface="Roboto Light"/>
              </a:rPr>
              <a:t>Career Development conversations should happen 2x a trimester</a:t>
            </a:r>
            <a:endParaRPr>
              <a:latin typeface="Roboto Light"/>
              <a:ea typeface="Roboto Light"/>
              <a:cs typeface="Roboto Light"/>
              <a:sym typeface="Roboto Light"/>
            </a:endParaRPr>
          </a:p>
          <a:p>
            <a:pPr indent="0" lvl="0" marL="0" rtl="0" algn="l">
              <a:spcBef>
                <a:spcPts val="0"/>
              </a:spcBef>
              <a:spcAft>
                <a:spcPts val="0"/>
              </a:spcAft>
              <a:buNone/>
            </a:pPr>
            <a:r>
              <a:t/>
            </a:r>
            <a:endParaRPr>
              <a:latin typeface="Roboto Light"/>
              <a:ea typeface="Roboto Light"/>
              <a:cs typeface="Roboto Light"/>
              <a:sym typeface="Roboto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35390baa9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35390baa9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35390baa9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35390baa9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Light"/>
              <a:buAutoNum type="arabicPeriod"/>
            </a:pPr>
            <a:r>
              <a:rPr lang="en" sz="1200">
                <a:solidFill>
                  <a:schemeClr val="dk1"/>
                </a:solidFill>
                <a:highlight>
                  <a:schemeClr val="lt1"/>
                </a:highlight>
                <a:latin typeface="Roboto Light"/>
                <a:ea typeface="Roboto Light"/>
                <a:cs typeface="Roboto Light"/>
                <a:sym typeface="Roboto Light"/>
              </a:rPr>
              <a:t>The structured 1:1 format with OKRs, roadblocks and feedback will prompt conversation to ensure course correction measures are put in place long before performance is a repetitive issue and a coaching conversation, PDR, or PIP are required</a:t>
            </a:r>
            <a:endParaRPr sz="1200">
              <a:solidFill>
                <a:schemeClr val="dk1"/>
              </a:solidFill>
              <a:highlight>
                <a:schemeClr val="lt1"/>
              </a:highlight>
              <a:latin typeface="Roboto Light"/>
              <a:ea typeface="Roboto Light"/>
              <a:cs typeface="Roboto Light"/>
              <a:sym typeface="Roboto Light"/>
            </a:endParaRPr>
          </a:p>
          <a:p>
            <a:pPr indent="-304800" lvl="0" marL="457200" rtl="0" algn="l">
              <a:lnSpc>
                <a:spcPct val="115000"/>
              </a:lnSpc>
              <a:spcBef>
                <a:spcPts val="0"/>
              </a:spcBef>
              <a:spcAft>
                <a:spcPts val="0"/>
              </a:spcAft>
              <a:buClr>
                <a:schemeClr val="dk1"/>
              </a:buClr>
              <a:buSzPts val="1200"/>
              <a:buFont typeface="Roboto Light"/>
              <a:buAutoNum type="arabicPeriod"/>
            </a:pPr>
            <a:r>
              <a:rPr lang="en" sz="1200">
                <a:solidFill>
                  <a:schemeClr val="dk1"/>
                </a:solidFill>
                <a:highlight>
                  <a:schemeClr val="lt1"/>
                </a:highlight>
                <a:latin typeface="Roboto Light"/>
                <a:ea typeface="Roboto Light"/>
                <a:cs typeface="Roboto Light"/>
                <a:sym typeface="Roboto Light"/>
              </a:rPr>
              <a:t>Instead of being focused solely on past performance, the bi-annual performance review is also a dedicated time to discuss career aspirations and how they can grow at Directive and as a professional</a:t>
            </a:r>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3b6078a10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3b6078a10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3f933b0e8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3f933b0e8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b6078a10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b6078a10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UPDATED QUESTIONS 7/6/22</a:t>
            </a:r>
            <a:endParaRPr b="1">
              <a:latin typeface="Roboto"/>
              <a:ea typeface="Roboto"/>
              <a:cs typeface="Roboto"/>
              <a:sym typeface="Roboto"/>
            </a:endParaRPr>
          </a:p>
          <a:p>
            <a:pPr indent="-298450" lvl="0" marL="457200" rtl="0" algn="l">
              <a:spcBef>
                <a:spcPts val="0"/>
              </a:spcBef>
              <a:spcAft>
                <a:spcPts val="0"/>
              </a:spcAft>
              <a:buSzPts val="1100"/>
              <a:buFont typeface="Roboto"/>
              <a:buAutoNum type="arabicPeriod"/>
            </a:pPr>
            <a:r>
              <a:rPr lang="en">
                <a:latin typeface="Roboto"/>
                <a:ea typeface="Roboto"/>
                <a:cs typeface="Roboto"/>
                <a:sym typeface="Roboto"/>
              </a:rPr>
              <a:t>Summary of results and accomplishments</a:t>
            </a:r>
            <a:endParaRPr>
              <a:latin typeface="Roboto"/>
              <a:ea typeface="Roboto"/>
              <a:cs typeface="Roboto"/>
              <a:sym typeface="Roboto"/>
            </a:endParaRPr>
          </a:p>
          <a:p>
            <a:pPr indent="-298450" lvl="0" marL="457200" rtl="0" algn="l">
              <a:spcBef>
                <a:spcPts val="0"/>
              </a:spcBef>
              <a:spcAft>
                <a:spcPts val="0"/>
              </a:spcAft>
              <a:buSzPts val="1100"/>
              <a:buFont typeface="Roboto"/>
              <a:buAutoNum type="arabicPeriod"/>
            </a:pPr>
            <a:r>
              <a:rPr lang="en">
                <a:latin typeface="Roboto"/>
                <a:ea typeface="Roboto"/>
                <a:cs typeface="Roboto"/>
                <a:sym typeface="Roboto"/>
              </a:rPr>
              <a:t>Summary of opportunities</a:t>
            </a:r>
            <a:endParaRPr>
              <a:latin typeface="Roboto"/>
              <a:ea typeface="Roboto"/>
              <a:cs typeface="Roboto"/>
              <a:sym typeface="Roboto"/>
            </a:endParaRPr>
          </a:p>
          <a:p>
            <a:pPr indent="-298450" lvl="0" marL="457200" rtl="0" algn="l">
              <a:spcBef>
                <a:spcPts val="0"/>
              </a:spcBef>
              <a:spcAft>
                <a:spcPts val="0"/>
              </a:spcAft>
              <a:buSzPts val="1100"/>
              <a:buFont typeface="Roboto"/>
              <a:buAutoNum type="arabicPeriod"/>
            </a:pPr>
            <a:r>
              <a:rPr lang="en">
                <a:latin typeface="Roboto"/>
                <a:ea typeface="Roboto"/>
                <a:cs typeface="Roboto"/>
                <a:sym typeface="Roboto"/>
              </a:rPr>
              <a:t>Objective performance management rating (results output)</a:t>
            </a:r>
            <a:endParaRPr>
              <a:latin typeface="Roboto"/>
              <a:ea typeface="Roboto"/>
              <a:cs typeface="Roboto"/>
              <a:sym typeface="Roboto"/>
            </a:endParaRPr>
          </a:p>
          <a:p>
            <a:pPr indent="-298450" lvl="0" marL="457200" rtl="0" algn="l">
              <a:spcBef>
                <a:spcPts val="0"/>
              </a:spcBef>
              <a:spcAft>
                <a:spcPts val="0"/>
              </a:spcAft>
              <a:buSzPts val="1100"/>
              <a:buFont typeface="Roboto"/>
              <a:buAutoNum type="arabicPeriod"/>
            </a:pPr>
            <a:r>
              <a:rPr lang="en">
                <a:solidFill>
                  <a:schemeClr val="dk1"/>
                </a:solidFill>
                <a:latin typeface="Roboto"/>
                <a:ea typeface="Roboto"/>
                <a:cs typeface="Roboto"/>
                <a:sym typeface="Roboto"/>
              </a:rPr>
              <a:t>Manager coaching vision statement </a:t>
            </a:r>
            <a:endParaRPr>
              <a:latin typeface="Roboto"/>
              <a:ea typeface="Roboto"/>
              <a:cs typeface="Roboto"/>
              <a:sym typeface="Roboto"/>
            </a:endParaRPr>
          </a:p>
          <a:p>
            <a:pPr indent="-298450" lvl="0" marL="457200" rtl="0" algn="l">
              <a:spcBef>
                <a:spcPts val="0"/>
              </a:spcBef>
              <a:spcAft>
                <a:spcPts val="0"/>
              </a:spcAft>
              <a:buSzPts val="1100"/>
              <a:buFont typeface="Roboto"/>
              <a:buAutoNum type="arabicPeriod"/>
            </a:pPr>
            <a:r>
              <a:rPr lang="en">
                <a:solidFill>
                  <a:schemeClr val="dk1"/>
                </a:solidFill>
                <a:latin typeface="Roboto"/>
                <a:ea typeface="Roboto"/>
                <a:cs typeface="Roboto"/>
                <a:sym typeface="Roboto"/>
              </a:rPr>
              <a:t>Soft Skill /Job Requirement </a:t>
            </a:r>
            <a:endParaRPr>
              <a:solidFill>
                <a:schemeClr val="dk1"/>
              </a:solidFill>
              <a:latin typeface="Roboto"/>
              <a:ea typeface="Roboto"/>
              <a:cs typeface="Roboto"/>
              <a:sym typeface="Roboto"/>
            </a:endParaRPr>
          </a:p>
          <a:p>
            <a:pPr indent="-298450" lvl="0" marL="457200" rtl="0" algn="l">
              <a:spcBef>
                <a:spcPts val="0"/>
              </a:spcBef>
              <a:spcAft>
                <a:spcPts val="0"/>
              </a:spcAft>
              <a:buSzPts val="1100"/>
              <a:buFont typeface="Roboto"/>
              <a:buAutoNum type="arabicPeriod"/>
            </a:pPr>
            <a:r>
              <a:rPr lang="en">
                <a:solidFill>
                  <a:schemeClr val="dk1"/>
                </a:solidFill>
                <a:latin typeface="Roboto"/>
                <a:ea typeface="Roboto"/>
                <a:cs typeface="Roboto"/>
                <a:sym typeface="Roboto"/>
              </a:rPr>
              <a:t>Values alignment - are their behaviors demonstrating our values?</a:t>
            </a:r>
            <a:endParaRPr>
              <a:solidFill>
                <a:schemeClr val="dk1"/>
              </a:solidFill>
              <a:latin typeface="Roboto"/>
              <a:ea typeface="Roboto"/>
              <a:cs typeface="Roboto"/>
              <a:sym typeface="Roboto"/>
            </a:endParaRPr>
          </a:p>
          <a:p>
            <a:pPr indent="-298450" lvl="1" marL="914400" rtl="0" algn="l">
              <a:spcBef>
                <a:spcPts val="0"/>
              </a:spcBef>
              <a:spcAft>
                <a:spcPts val="0"/>
              </a:spcAft>
              <a:buClr>
                <a:schemeClr val="dk1"/>
              </a:buClr>
              <a:buSzPts val="1100"/>
              <a:buFont typeface="Roboto"/>
              <a:buAutoNum type="alphaLcPeriod"/>
            </a:pPr>
            <a:r>
              <a:rPr lang="en">
                <a:solidFill>
                  <a:schemeClr val="dk1"/>
                </a:solidFill>
                <a:latin typeface="Roboto"/>
                <a:ea typeface="Roboto"/>
                <a:cs typeface="Roboto"/>
                <a:sym typeface="Roboto"/>
              </a:rPr>
              <a:t>What Directive value did this person consistently demonstrate in the previous 6 months?</a:t>
            </a:r>
            <a:endParaRPr>
              <a:solidFill>
                <a:schemeClr val="dk1"/>
              </a:solidFill>
              <a:latin typeface="Roboto"/>
              <a:ea typeface="Roboto"/>
              <a:cs typeface="Roboto"/>
              <a:sym typeface="Roboto"/>
            </a:endParaRPr>
          </a:p>
          <a:p>
            <a:pPr indent="-298450" lvl="1" marL="914400" rtl="0" algn="l">
              <a:spcBef>
                <a:spcPts val="0"/>
              </a:spcBef>
              <a:spcAft>
                <a:spcPts val="0"/>
              </a:spcAft>
              <a:buClr>
                <a:schemeClr val="dk1"/>
              </a:buClr>
              <a:buSzPts val="1100"/>
              <a:buFont typeface="Roboto"/>
              <a:buAutoNum type="alphaLcPeriod"/>
            </a:pPr>
            <a:r>
              <a:rPr lang="en">
                <a:solidFill>
                  <a:schemeClr val="dk1"/>
                </a:solidFill>
                <a:latin typeface="Roboto"/>
                <a:ea typeface="Roboto"/>
                <a:cs typeface="Roboto"/>
                <a:sym typeface="Roboto"/>
              </a:rPr>
              <a:t>To what extent did this employee's behavior exemplify our companies values?</a:t>
            </a:r>
            <a:endParaRPr>
              <a:solidFill>
                <a:schemeClr val="dk1"/>
              </a:solidFill>
              <a:latin typeface="Roboto"/>
              <a:ea typeface="Roboto"/>
              <a:cs typeface="Roboto"/>
              <a:sym typeface="Roboto"/>
            </a:endParaRPr>
          </a:p>
          <a:p>
            <a:pPr indent="-298450" lvl="2" marL="1371600" rtl="0" algn="l">
              <a:spcBef>
                <a:spcPts val="0"/>
              </a:spcBef>
              <a:spcAft>
                <a:spcPts val="0"/>
              </a:spcAft>
              <a:buClr>
                <a:schemeClr val="dk1"/>
              </a:buClr>
              <a:buSzPts val="1100"/>
              <a:buFont typeface="Roboto"/>
              <a:buAutoNum type="romanLcPeriod"/>
            </a:pPr>
            <a:r>
              <a:rPr lang="en">
                <a:solidFill>
                  <a:schemeClr val="dk1"/>
                </a:solidFill>
                <a:latin typeface="Roboto"/>
                <a:ea typeface="Roboto"/>
                <a:cs typeface="Roboto"/>
                <a:sym typeface="Roboto"/>
              </a:rPr>
              <a:t>Comment</a:t>
            </a:r>
            <a:endParaRPr strike="sngStrike">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Promotion Question to report to Finance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Roboto"/>
                <a:ea typeface="Roboto"/>
                <a:cs typeface="Roboto"/>
                <a:sym typeface="Roboto"/>
              </a:rPr>
              <a:t>Did</a:t>
            </a:r>
            <a:r>
              <a:rPr b="1" lang="en">
                <a:solidFill>
                  <a:schemeClr val="dk1"/>
                </a:solidFill>
                <a:latin typeface="Roboto"/>
                <a:ea typeface="Roboto"/>
                <a:cs typeface="Roboto"/>
                <a:sym typeface="Roboto"/>
              </a:rPr>
              <a:t> this person’s behaviors </a:t>
            </a:r>
            <a:r>
              <a:rPr b="1" lang="en">
                <a:solidFill>
                  <a:schemeClr val="dk1"/>
                </a:solidFill>
                <a:latin typeface="Roboto"/>
                <a:ea typeface="Roboto"/>
                <a:cs typeface="Roboto"/>
                <a:sym typeface="Roboto"/>
              </a:rPr>
              <a:t>consistently</a:t>
            </a:r>
            <a:r>
              <a:rPr b="1" lang="en">
                <a:solidFill>
                  <a:schemeClr val="dk1"/>
                </a:solidFill>
                <a:latin typeface="Roboto"/>
                <a:ea typeface="Roboto"/>
                <a:cs typeface="Roboto"/>
                <a:sym typeface="Roboto"/>
              </a:rPr>
              <a:t> exemplify our company’s values?</a:t>
            </a:r>
            <a:endParaRPr b="1">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Below</a:t>
            </a:r>
            <a:r>
              <a:rPr lang="en">
                <a:solidFill>
                  <a:schemeClr val="dk1"/>
                </a:solidFill>
                <a:latin typeface="Roboto"/>
                <a:ea typeface="Roboto"/>
                <a:cs typeface="Roboto"/>
                <a:sym typeface="Roboto"/>
              </a:rPr>
              <a:t> Expectations = Developing</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Met Expectations = Performing</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Exceeded Expectations = Exceeding</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cfd2d80e1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cfd2d80e1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latin typeface="Roboto"/>
                <a:ea typeface="Roboto"/>
                <a:cs typeface="Roboto"/>
                <a:sym typeface="Roboto"/>
              </a:rPr>
              <a:t>UPDATED QUESTIONS 7/6/22:</a:t>
            </a:r>
            <a:endParaRPr b="1">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Summary of results and accomplishments</a:t>
            </a:r>
            <a:endParaRPr>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Summary of opportunities</a:t>
            </a:r>
            <a:endParaRPr>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Objective performance management rating (results output)</a:t>
            </a:r>
            <a:endParaRPr>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Manager coaching vision statement </a:t>
            </a:r>
            <a:endParaRPr>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Soft Skill /Job Requirement </a:t>
            </a:r>
            <a:endParaRPr>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Values alignment - are their behaviors demonstrating our values?</a:t>
            </a:r>
            <a:endParaRPr>
              <a:solidFill>
                <a:schemeClr val="dk1"/>
              </a:solidFill>
              <a:latin typeface="Roboto"/>
              <a:ea typeface="Roboto"/>
              <a:cs typeface="Roboto"/>
              <a:sym typeface="Roboto"/>
            </a:endParaRPr>
          </a:p>
          <a:p>
            <a:pPr indent="-298450" lvl="1" marL="914400" rtl="0" algn="l">
              <a:spcBef>
                <a:spcPts val="0"/>
              </a:spcBef>
              <a:spcAft>
                <a:spcPts val="0"/>
              </a:spcAft>
              <a:buClr>
                <a:schemeClr val="dk1"/>
              </a:buClr>
              <a:buSzPts val="1100"/>
              <a:buFont typeface="Roboto"/>
              <a:buAutoNum type="alphaLcPeriod"/>
            </a:pPr>
            <a:r>
              <a:rPr lang="en">
                <a:solidFill>
                  <a:schemeClr val="dk1"/>
                </a:solidFill>
                <a:latin typeface="Roboto"/>
                <a:ea typeface="Roboto"/>
                <a:cs typeface="Roboto"/>
                <a:sym typeface="Roboto"/>
              </a:rPr>
              <a:t>What Directive value did this person consistently demonstrate in the previous 6 months?</a:t>
            </a:r>
            <a:endParaRPr>
              <a:solidFill>
                <a:schemeClr val="dk1"/>
              </a:solidFill>
              <a:latin typeface="Roboto"/>
              <a:ea typeface="Roboto"/>
              <a:cs typeface="Roboto"/>
              <a:sym typeface="Roboto"/>
            </a:endParaRPr>
          </a:p>
          <a:p>
            <a:pPr indent="-298450" lvl="1" marL="914400" rtl="0" algn="l">
              <a:spcBef>
                <a:spcPts val="0"/>
              </a:spcBef>
              <a:spcAft>
                <a:spcPts val="0"/>
              </a:spcAft>
              <a:buClr>
                <a:schemeClr val="dk1"/>
              </a:buClr>
              <a:buSzPts val="1100"/>
              <a:buFont typeface="Roboto"/>
              <a:buAutoNum type="alphaLcPeriod"/>
            </a:pPr>
            <a:r>
              <a:rPr lang="en">
                <a:solidFill>
                  <a:schemeClr val="dk1"/>
                </a:solidFill>
                <a:latin typeface="Roboto"/>
                <a:ea typeface="Roboto"/>
                <a:cs typeface="Roboto"/>
                <a:sym typeface="Roboto"/>
              </a:rPr>
              <a:t>To what extent did this employee's behavior exemplify our companies values?</a:t>
            </a:r>
            <a:endParaRPr>
              <a:solidFill>
                <a:schemeClr val="dk1"/>
              </a:solidFill>
              <a:latin typeface="Roboto"/>
              <a:ea typeface="Roboto"/>
              <a:cs typeface="Roboto"/>
              <a:sym typeface="Roboto"/>
            </a:endParaRPr>
          </a:p>
          <a:p>
            <a:pPr indent="-298450" lvl="2" marL="1371600" rtl="0" algn="l">
              <a:spcBef>
                <a:spcPts val="0"/>
              </a:spcBef>
              <a:spcAft>
                <a:spcPts val="0"/>
              </a:spcAft>
              <a:buClr>
                <a:schemeClr val="dk1"/>
              </a:buClr>
              <a:buSzPts val="1100"/>
              <a:buFont typeface="Roboto"/>
              <a:buAutoNum type="romanLcPeriod"/>
            </a:pPr>
            <a:r>
              <a:rPr lang="en">
                <a:solidFill>
                  <a:schemeClr val="dk1"/>
                </a:solidFill>
                <a:latin typeface="Roboto"/>
                <a:ea typeface="Roboto"/>
                <a:cs typeface="Roboto"/>
                <a:sym typeface="Roboto"/>
              </a:rPr>
              <a:t>Comment</a:t>
            </a:r>
            <a:endParaRPr strike="sngStrike">
              <a:solidFill>
                <a:schemeClr val="dk1"/>
              </a:solidFill>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a:solidFill>
                  <a:schemeClr val="dk1"/>
                </a:solidFill>
                <a:latin typeface="Roboto"/>
                <a:ea typeface="Roboto"/>
                <a:cs typeface="Roboto"/>
                <a:sym typeface="Roboto"/>
              </a:rPr>
              <a:t>Promotion Question to report to Finance</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b="1" lang="en">
                <a:solidFill>
                  <a:schemeClr val="dk1"/>
                </a:solidFill>
                <a:latin typeface="Roboto"/>
                <a:ea typeface="Roboto"/>
                <a:cs typeface="Roboto"/>
                <a:sym typeface="Roboto"/>
              </a:rPr>
              <a:t>Did this person’s behaviors consistently exemplify our company’s values?</a:t>
            </a:r>
            <a:endParaRPr b="1">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Below Expectations = Developing</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Met Expectations = Performing</a:t>
            </a:r>
            <a:endParaRPr>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Exceeded Expectations = Exceeding</a:t>
            </a:r>
            <a:endParaRPr b="1">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3f933b0e8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3f933b0e8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The previous questions weren’t action oriented to the manager and their management skills and need to be changed to directly provide the manager feedback on ways they can improve and ways the excel as a manager of people.</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35390baa9f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35390baa9f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The current </a:t>
            </a:r>
            <a:r>
              <a:rPr lang="en">
                <a:latin typeface="Roboto"/>
                <a:ea typeface="Roboto"/>
                <a:cs typeface="Roboto"/>
                <a:sym typeface="Roboto"/>
              </a:rPr>
              <a:t>questions</a:t>
            </a:r>
            <a:r>
              <a:rPr lang="en">
                <a:latin typeface="Roboto"/>
                <a:ea typeface="Roboto"/>
                <a:cs typeface="Roboto"/>
                <a:sym typeface="Roboto"/>
              </a:rPr>
              <a:t> aren’t action </a:t>
            </a:r>
            <a:r>
              <a:rPr lang="en">
                <a:latin typeface="Roboto"/>
                <a:ea typeface="Roboto"/>
                <a:cs typeface="Roboto"/>
                <a:sym typeface="Roboto"/>
              </a:rPr>
              <a:t>oriented</a:t>
            </a:r>
            <a:r>
              <a:rPr lang="en">
                <a:latin typeface="Roboto"/>
                <a:ea typeface="Roboto"/>
                <a:cs typeface="Roboto"/>
                <a:sym typeface="Roboto"/>
              </a:rPr>
              <a:t> to the manager and their management skills and need to be changed to directly provide the manager </a:t>
            </a:r>
            <a:r>
              <a:rPr lang="en">
                <a:latin typeface="Roboto"/>
                <a:ea typeface="Roboto"/>
                <a:cs typeface="Roboto"/>
                <a:sym typeface="Roboto"/>
              </a:rPr>
              <a:t>feedback on ways they can improve and ways the excel as a manager of people.</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Likert Scale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Strongly Agree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Agree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Neutral</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Disagree</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Strongly Disagree</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3f933b0e8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3f933b0e8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3ca44544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3ca44544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The current questions aren’t action oriented to the manager and their management skills and need to be changed to directly provide the manager feedback on ways they can improve and ways the excel as a manager of people.</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35390baa9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35390baa9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35390baa9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35390baa9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35390baa9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35390baa9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Why?</a:t>
            </a:r>
            <a:endParaRPr>
              <a:latin typeface="Roboto"/>
              <a:ea typeface="Roboto"/>
              <a:cs typeface="Roboto"/>
              <a:sym typeface="Roboto"/>
            </a:endParaRPr>
          </a:p>
          <a:p>
            <a:pPr indent="-298450" lvl="0" marL="457200" rtl="0" algn="l">
              <a:spcBef>
                <a:spcPts val="0"/>
              </a:spcBef>
              <a:spcAft>
                <a:spcPts val="0"/>
              </a:spcAft>
              <a:buSzPts val="1100"/>
              <a:buFont typeface="Roboto"/>
              <a:buChar char="●"/>
            </a:pPr>
            <a:r>
              <a:rPr lang="en">
                <a:latin typeface="Roboto"/>
                <a:ea typeface="Roboto"/>
                <a:cs typeface="Roboto"/>
                <a:sym typeface="Roboto"/>
              </a:rPr>
              <a:t>Remove expectations - keep it objective</a:t>
            </a:r>
            <a:endParaRPr>
              <a:latin typeface="Roboto"/>
              <a:ea typeface="Roboto"/>
              <a:cs typeface="Roboto"/>
              <a:sym typeface="Roboto"/>
            </a:endParaRPr>
          </a:p>
          <a:p>
            <a:pPr indent="-298450" lvl="0" marL="457200" rtl="0" algn="l">
              <a:spcBef>
                <a:spcPts val="0"/>
              </a:spcBef>
              <a:spcAft>
                <a:spcPts val="0"/>
              </a:spcAft>
              <a:buSzPts val="1100"/>
              <a:buFont typeface="Roboto"/>
              <a:buChar char="●"/>
            </a:pPr>
            <a:r>
              <a:rPr lang="en">
                <a:latin typeface="Roboto"/>
                <a:ea typeface="Roboto"/>
                <a:cs typeface="Roboto"/>
                <a:sym typeface="Roboto"/>
              </a:rPr>
              <a:t>Match up Manager questions with employee questions so they are reflecting on the same questions and have a common language to speak during the review</a:t>
            </a:r>
            <a:endParaRPr>
              <a:latin typeface="Roboto"/>
              <a:ea typeface="Roboto"/>
              <a:cs typeface="Roboto"/>
              <a:sym typeface="Roboto"/>
            </a:endParaRPr>
          </a:p>
          <a:p>
            <a:pPr indent="-298450" lvl="0" marL="457200" rtl="0" algn="l">
              <a:spcBef>
                <a:spcPts val="0"/>
              </a:spcBef>
              <a:spcAft>
                <a:spcPts val="0"/>
              </a:spcAft>
              <a:buSzPts val="1100"/>
              <a:buFont typeface="Roboto"/>
              <a:buChar char="●"/>
            </a:pPr>
            <a:r>
              <a:rPr lang="en">
                <a:latin typeface="Roboto"/>
                <a:ea typeface="Roboto"/>
                <a:cs typeface="Roboto"/>
                <a:sym typeface="Roboto"/>
              </a:rPr>
              <a:t>Level out the number of questions - currently the self review has 14 and the manager has 3!</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2.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5.jpg"/><Relationship Id="rId4"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23.png"/><Relationship Id="rId7"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19.png"/><Relationship Id="rId7" Type="http://schemas.openxmlformats.org/officeDocument/2006/relationships/image" Target="../media/image17.png"/><Relationship Id="rId8"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
        <p:nvSpPr>
          <p:cNvPr id="99" name="Google Shape;99;p25"/>
          <p:cNvSpPr txBox="1"/>
          <p:nvPr>
            <p:ph type="ctrTitle"/>
          </p:nvPr>
        </p:nvSpPr>
        <p:spPr>
          <a:xfrm>
            <a:off x="910950" y="1266425"/>
            <a:ext cx="7322100" cy="175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solidFill>
                  <a:srgbClr val="FFFFFF"/>
                </a:solidFill>
                <a:latin typeface="Roboto Medium"/>
                <a:ea typeface="Roboto Medium"/>
                <a:cs typeface="Roboto Medium"/>
                <a:sym typeface="Roboto Medium"/>
              </a:rPr>
              <a:t>1:1s Template and Bi-Annual Performance Reviews</a:t>
            </a:r>
            <a:endParaRPr sz="4300">
              <a:solidFill>
                <a:srgbClr val="FFFFFF"/>
              </a:solidFill>
              <a:latin typeface="Roboto Medium"/>
              <a:ea typeface="Roboto Medium"/>
              <a:cs typeface="Roboto Medium"/>
              <a:sym typeface="Roboto Medium"/>
            </a:endParaRPr>
          </a:p>
        </p:txBody>
      </p:sp>
      <p:sp>
        <p:nvSpPr>
          <p:cNvPr id="100" name="Google Shape;100;p25"/>
          <p:cNvSpPr txBox="1"/>
          <p:nvPr>
            <p:ph idx="1" type="subTitle"/>
          </p:nvPr>
        </p:nvSpPr>
        <p:spPr>
          <a:xfrm>
            <a:off x="1942500" y="3084100"/>
            <a:ext cx="5259000" cy="43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rgbClr val="E1523D"/>
                </a:solidFill>
                <a:latin typeface="Roboto"/>
                <a:ea typeface="Roboto"/>
                <a:cs typeface="Roboto"/>
                <a:sym typeface="Roboto"/>
              </a:rPr>
              <a:t>June </a:t>
            </a:r>
            <a:r>
              <a:rPr b="1" lang="en" sz="1100">
                <a:solidFill>
                  <a:srgbClr val="E1523D"/>
                </a:solidFill>
                <a:latin typeface="Roboto"/>
                <a:ea typeface="Roboto"/>
                <a:cs typeface="Roboto"/>
                <a:sym typeface="Roboto"/>
              </a:rPr>
              <a:t> 2022</a:t>
            </a:r>
            <a:endParaRPr b="1" sz="1100">
              <a:solidFill>
                <a:srgbClr val="E1523D"/>
              </a:solidFill>
              <a:latin typeface="Roboto"/>
              <a:ea typeface="Roboto"/>
              <a:cs typeface="Roboto"/>
              <a:sym typeface="Roboto"/>
            </a:endParaRPr>
          </a:p>
        </p:txBody>
      </p:sp>
      <p:pic>
        <p:nvPicPr>
          <p:cNvPr id="101" name="Google Shape;101;p25"/>
          <p:cNvPicPr preferRelativeResize="0"/>
          <p:nvPr/>
        </p:nvPicPr>
        <p:blipFill>
          <a:blip r:embed="rId4">
            <a:alphaModFix/>
          </a:blip>
          <a:stretch>
            <a:fillRect/>
          </a:stretch>
        </p:blipFill>
        <p:spPr>
          <a:xfrm>
            <a:off x="4023463" y="875800"/>
            <a:ext cx="1097075" cy="224700"/>
          </a:xfrm>
          <a:prstGeom prst="rect">
            <a:avLst/>
          </a:prstGeom>
          <a:noFill/>
          <a:ln>
            <a:noFill/>
          </a:ln>
        </p:spPr>
      </p:pic>
      <p:sp>
        <p:nvSpPr>
          <p:cNvPr id="102" name="Google Shape;102;p25"/>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3" name="Google Shape;103;p25"/>
          <p:cNvPicPr preferRelativeResize="0"/>
          <p:nvPr/>
        </p:nvPicPr>
        <p:blipFill rotWithShape="1">
          <a:blip r:embed="rId5">
            <a:alphaModFix/>
          </a:blip>
          <a:srcRect b="8670" l="0" r="61369" t="69968"/>
          <a:stretch/>
        </p:blipFill>
        <p:spPr>
          <a:xfrm>
            <a:off x="6104500" y="0"/>
            <a:ext cx="2256398" cy="701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pic>
        <p:nvPicPr>
          <p:cNvPr id="108" name="Google Shape;108;p26"/>
          <p:cNvPicPr preferRelativeResize="0"/>
          <p:nvPr/>
        </p:nvPicPr>
        <p:blipFill rotWithShape="1">
          <a:blip r:embed="rId4">
            <a:alphaModFix/>
          </a:blip>
          <a:srcRect b="65391" l="0" r="50253" t="0"/>
          <a:stretch/>
        </p:blipFill>
        <p:spPr>
          <a:xfrm>
            <a:off x="5988800" y="783900"/>
            <a:ext cx="2905550" cy="1137000"/>
          </a:xfrm>
          <a:prstGeom prst="rect">
            <a:avLst/>
          </a:prstGeom>
          <a:noFill/>
          <a:ln>
            <a:noFill/>
          </a:ln>
        </p:spPr>
      </p:pic>
      <p:sp>
        <p:nvSpPr>
          <p:cNvPr id="109" name="Google Shape;109;p26"/>
          <p:cNvSpPr txBox="1"/>
          <p:nvPr>
            <p:ph type="ctrTitle"/>
          </p:nvPr>
        </p:nvSpPr>
        <p:spPr>
          <a:xfrm>
            <a:off x="1732499" y="2060400"/>
            <a:ext cx="5679000" cy="102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700">
                <a:solidFill>
                  <a:srgbClr val="FFFFFF"/>
                </a:solidFill>
                <a:latin typeface="Roboto Medium"/>
                <a:ea typeface="Roboto Medium"/>
                <a:cs typeface="Roboto Medium"/>
                <a:sym typeface="Roboto Medium"/>
              </a:rPr>
              <a:t>Structured 1:1’s</a:t>
            </a:r>
            <a:endParaRPr sz="5700">
              <a:solidFill>
                <a:srgbClr val="FFFFFF"/>
              </a:solidFill>
              <a:latin typeface="Roboto Medium"/>
              <a:ea typeface="Roboto Medium"/>
              <a:cs typeface="Roboto Medium"/>
              <a:sym typeface="Roboto Medium"/>
            </a:endParaRPr>
          </a:p>
        </p:txBody>
      </p:sp>
      <p:pic>
        <p:nvPicPr>
          <p:cNvPr id="110" name="Google Shape;110;p26"/>
          <p:cNvPicPr preferRelativeResize="0"/>
          <p:nvPr/>
        </p:nvPicPr>
        <p:blipFill rotWithShape="1">
          <a:blip r:embed="rId5">
            <a:alphaModFix/>
          </a:blip>
          <a:srcRect b="38355" l="33935" r="32603" t="30529"/>
          <a:stretch/>
        </p:blipFill>
        <p:spPr>
          <a:xfrm>
            <a:off x="3125837" y="2789025"/>
            <a:ext cx="1376923" cy="720249"/>
          </a:xfrm>
          <a:prstGeom prst="rect">
            <a:avLst/>
          </a:prstGeom>
          <a:noFill/>
          <a:ln>
            <a:noFill/>
          </a:ln>
        </p:spPr>
      </p:pic>
      <p:sp>
        <p:nvSpPr>
          <p:cNvPr id="111" name="Google Shape;111;p26"/>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26"/>
          <p:cNvPicPr preferRelativeResize="0"/>
          <p:nvPr/>
        </p:nvPicPr>
        <p:blipFill>
          <a:blip r:embed="rId6">
            <a:alphaModFix/>
          </a:blip>
          <a:stretch>
            <a:fillRect/>
          </a:stretch>
        </p:blipFill>
        <p:spPr>
          <a:xfrm>
            <a:off x="8052535" y="4602775"/>
            <a:ext cx="841825" cy="172425"/>
          </a:xfrm>
          <a:prstGeom prst="rect">
            <a:avLst/>
          </a:prstGeom>
          <a:noFill/>
          <a:ln>
            <a:noFill/>
          </a:ln>
        </p:spPr>
      </p:pic>
      <p:pic>
        <p:nvPicPr>
          <p:cNvPr id="113" name="Google Shape;113;p26"/>
          <p:cNvPicPr preferRelativeResize="0"/>
          <p:nvPr/>
        </p:nvPicPr>
        <p:blipFill>
          <a:blip r:embed="rId7">
            <a:alphaModFix/>
          </a:blip>
          <a:stretch>
            <a:fillRect/>
          </a:stretch>
        </p:blipFill>
        <p:spPr>
          <a:xfrm>
            <a:off x="-843650" y="231051"/>
            <a:ext cx="1867200" cy="1867171"/>
          </a:xfrm>
          <a:prstGeom prst="rect">
            <a:avLst/>
          </a:prstGeom>
          <a:noFill/>
          <a:ln>
            <a:noFill/>
          </a:ln>
        </p:spPr>
      </p:pic>
      <p:sp>
        <p:nvSpPr>
          <p:cNvPr id="114" name="Google Shape;114;p26"/>
          <p:cNvSpPr/>
          <p:nvPr/>
        </p:nvSpPr>
        <p:spPr>
          <a:xfrm rot="5400000">
            <a:off x="8598675" y="1638150"/>
            <a:ext cx="774900" cy="1867200"/>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26"/>
          <p:cNvPicPr preferRelativeResize="0"/>
          <p:nvPr/>
        </p:nvPicPr>
        <p:blipFill rotWithShape="1">
          <a:blip r:embed="rId8">
            <a:alphaModFix/>
          </a:blip>
          <a:srcRect b="20727" l="37888" r="28593" t="20202"/>
          <a:stretch/>
        </p:blipFill>
        <p:spPr>
          <a:xfrm rot="1799954">
            <a:off x="5882038" y="635967"/>
            <a:ext cx="411072" cy="407491"/>
          </a:xfrm>
          <a:prstGeom prst="rect">
            <a:avLst/>
          </a:prstGeom>
          <a:noFill/>
          <a:ln>
            <a:noFill/>
          </a:ln>
        </p:spPr>
      </p:pic>
      <p:pic>
        <p:nvPicPr>
          <p:cNvPr id="116" name="Google Shape;116;p26"/>
          <p:cNvPicPr preferRelativeResize="0"/>
          <p:nvPr/>
        </p:nvPicPr>
        <p:blipFill rotWithShape="1">
          <a:blip r:embed="rId9">
            <a:alphaModFix/>
          </a:blip>
          <a:srcRect b="31263" l="34386" r="23317" t="35968"/>
          <a:stretch/>
        </p:blipFill>
        <p:spPr>
          <a:xfrm>
            <a:off x="231398" y="4001373"/>
            <a:ext cx="1012275" cy="6013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pic>
        <p:nvPicPr>
          <p:cNvPr id="121" name="Google Shape;121;p27"/>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22" name="Google Shape;122;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Merriweather"/>
                <a:ea typeface="Merriweather"/>
                <a:cs typeface="Merriweather"/>
                <a:sym typeface="Merriweather"/>
              </a:rPr>
              <a:t>Standards of 1:1s at Directive</a:t>
            </a:r>
            <a:endParaRPr b="1" sz="2200">
              <a:latin typeface="Merriweather"/>
              <a:ea typeface="Merriweather"/>
              <a:cs typeface="Merriweather"/>
              <a:sym typeface="Merriweather"/>
            </a:endParaRPr>
          </a:p>
        </p:txBody>
      </p:sp>
      <p:sp>
        <p:nvSpPr>
          <p:cNvPr id="123" name="Google Shape;123;p27"/>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 name="Google Shape;124;p27"/>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125" name="Google Shape;125;p27"/>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7"/>
          <p:cNvSpPr txBox="1"/>
          <p:nvPr>
            <p:ph idx="2" type="body"/>
          </p:nvPr>
        </p:nvSpPr>
        <p:spPr>
          <a:xfrm>
            <a:off x="375175" y="1271125"/>
            <a:ext cx="8306700" cy="2715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Font typeface="Roboto Light"/>
              <a:buAutoNum type="arabicPeriod"/>
            </a:pPr>
            <a:r>
              <a:rPr lang="en">
                <a:solidFill>
                  <a:schemeClr val="dk1"/>
                </a:solidFill>
                <a:latin typeface="Roboto Light"/>
                <a:ea typeface="Roboto Light"/>
                <a:cs typeface="Roboto Light"/>
                <a:sym typeface="Roboto Light"/>
              </a:rPr>
              <a:t>All 1:1 notes are taken in Lattice</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AutoNum type="arabicPeriod"/>
            </a:pPr>
            <a:r>
              <a:rPr lang="en">
                <a:solidFill>
                  <a:schemeClr val="dk1"/>
                </a:solidFill>
                <a:latin typeface="Roboto Light"/>
                <a:ea typeface="Roboto Light"/>
                <a:cs typeface="Roboto Light"/>
                <a:sym typeface="Roboto Light"/>
              </a:rPr>
              <a:t>Managers and direct reports meet at a minimum 2x a month for 30 </a:t>
            </a:r>
            <a:r>
              <a:rPr lang="en">
                <a:solidFill>
                  <a:schemeClr val="dk1"/>
                </a:solidFill>
                <a:latin typeface="Roboto Light"/>
                <a:ea typeface="Roboto Light"/>
                <a:cs typeface="Roboto Light"/>
                <a:sym typeface="Roboto Light"/>
              </a:rPr>
              <a:t>min each</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AutoNum type="arabicPeriod"/>
            </a:pPr>
            <a:r>
              <a:rPr lang="en">
                <a:solidFill>
                  <a:schemeClr val="dk1"/>
                </a:solidFill>
                <a:latin typeface="Roboto Light"/>
                <a:ea typeface="Roboto Light"/>
                <a:cs typeface="Roboto Light"/>
                <a:sym typeface="Roboto Light"/>
              </a:rPr>
              <a:t>Review the discussion points in the company wide template, if it doesn’t indicate how frequently, that means review every 1:1</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AutoNum type="arabicPeriod"/>
            </a:pPr>
            <a:r>
              <a:rPr lang="en">
                <a:solidFill>
                  <a:schemeClr val="dk1"/>
                </a:solidFill>
                <a:latin typeface="Roboto Light"/>
                <a:ea typeface="Roboto Light"/>
                <a:cs typeface="Roboto Light"/>
                <a:sym typeface="Roboto Light"/>
              </a:rPr>
              <a:t>Update all “Growth Areas” 1x a month</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AutoNum type="arabicPeriod"/>
            </a:pPr>
            <a:r>
              <a:rPr lang="en">
                <a:solidFill>
                  <a:schemeClr val="dk1"/>
                </a:solidFill>
                <a:latin typeface="Roboto Light"/>
                <a:ea typeface="Roboto Light"/>
                <a:cs typeface="Roboto Light"/>
                <a:sym typeface="Roboto Light"/>
              </a:rPr>
              <a:t>People Ops will track usage data in Lattice including the number of people participated</a:t>
            </a:r>
            <a:endParaRPr>
              <a:solidFill>
                <a:schemeClr val="dk1"/>
              </a:solidFill>
              <a:latin typeface="Roboto Light"/>
              <a:ea typeface="Roboto Light"/>
              <a:cs typeface="Roboto Light"/>
              <a:sym typeface="Roboto Light"/>
            </a:endParaRPr>
          </a:p>
          <a:p>
            <a:pPr indent="-304800" lvl="1" marL="914400" rtl="0" algn="l">
              <a:spcBef>
                <a:spcPts val="0"/>
              </a:spcBef>
              <a:spcAft>
                <a:spcPts val="0"/>
              </a:spcAft>
              <a:buClr>
                <a:schemeClr val="dk1"/>
              </a:buClr>
              <a:buSzPts val="1200"/>
              <a:buFont typeface="Roboto Light"/>
              <a:buAutoNum type="alphaLcPeriod"/>
            </a:pPr>
            <a:r>
              <a:rPr lang="en">
                <a:solidFill>
                  <a:schemeClr val="dk1"/>
                </a:solidFill>
                <a:latin typeface="Roboto Light"/>
                <a:ea typeface="Roboto Light"/>
                <a:cs typeface="Roboto Light"/>
                <a:sym typeface="Roboto Light"/>
              </a:rPr>
              <a:t>Taking any action in the 1:1 will trigger it to show up as </a:t>
            </a:r>
            <a:r>
              <a:rPr lang="en">
                <a:solidFill>
                  <a:schemeClr val="dk1"/>
                </a:solidFill>
                <a:latin typeface="Roboto Light"/>
                <a:ea typeface="Roboto Light"/>
                <a:cs typeface="Roboto Light"/>
                <a:sym typeface="Roboto Light"/>
              </a:rPr>
              <a:t>participated </a:t>
            </a:r>
            <a:endParaRPr>
              <a:solidFill>
                <a:schemeClr val="dk1"/>
              </a:solidFill>
              <a:latin typeface="Roboto Light"/>
              <a:ea typeface="Roboto Light"/>
              <a:cs typeface="Roboto Light"/>
              <a:sym typeface="Roboto Light"/>
            </a:endParaRPr>
          </a:p>
          <a:p>
            <a:pPr indent="-304800" lvl="2" marL="1371600" rtl="0" algn="l">
              <a:spcBef>
                <a:spcPts val="0"/>
              </a:spcBef>
              <a:spcAft>
                <a:spcPts val="0"/>
              </a:spcAft>
              <a:buClr>
                <a:schemeClr val="dk1"/>
              </a:buClr>
              <a:buSzPts val="1200"/>
              <a:buFont typeface="Roboto Light"/>
              <a:buAutoNum type="romanLcPeriod"/>
            </a:pPr>
            <a:r>
              <a:rPr lang="en">
                <a:solidFill>
                  <a:schemeClr val="dk1"/>
                </a:solidFill>
                <a:latin typeface="Roboto Light"/>
                <a:ea typeface="Roboto Light"/>
                <a:cs typeface="Roboto Light"/>
                <a:sym typeface="Roboto Light"/>
              </a:rPr>
              <a:t>ex. checking off an agenda item, leaving a note, adding an action item, adding a talking point</a:t>
            </a:r>
            <a:endParaRPr>
              <a:solidFill>
                <a:schemeClr val="dk1"/>
              </a:solidFill>
              <a:latin typeface="Roboto Light"/>
              <a:ea typeface="Roboto Light"/>
              <a:cs typeface="Roboto Light"/>
              <a:sym typeface="Robo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pic>
        <p:nvPicPr>
          <p:cNvPr id="131" name="Google Shape;131;p28"/>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32" name="Google Shape;132;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00">
                <a:latin typeface="Merriweather"/>
                <a:ea typeface="Merriweather"/>
                <a:cs typeface="Merriweather"/>
                <a:sym typeface="Merriweather"/>
              </a:rPr>
              <a:t>Company Wide Bi-Weekly 1:1 Template</a:t>
            </a:r>
            <a:endParaRPr b="1" sz="2200">
              <a:latin typeface="Merriweather"/>
              <a:ea typeface="Merriweather"/>
              <a:cs typeface="Merriweather"/>
              <a:sym typeface="Merriweather"/>
            </a:endParaRPr>
          </a:p>
        </p:txBody>
      </p:sp>
      <p:sp>
        <p:nvSpPr>
          <p:cNvPr id="133" name="Google Shape;133;p28"/>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28"/>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135" name="Google Shape;135;p28"/>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8"/>
          <p:cNvSpPr txBox="1"/>
          <p:nvPr>
            <p:ph idx="2" type="body"/>
          </p:nvPr>
        </p:nvSpPr>
        <p:spPr>
          <a:xfrm>
            <a:off x="375175" y="1271125"/>
            <a:ext cx="6091800" cy="1476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Status Updates (OKRs, Clients, Projects, etc.)</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Roadblocks</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Personal Check-In</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What should I start, stop, and keep doing? (1x a month)</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Career Development</a:t>
            </a:r>
            <a:r>
              <a:rPr lang="en">
                <a:solidFill>
                  <a:schemeClr val="dk1"/>
                </a:solidFill>
                <a:latin typeface="Roboto Light"/>
                <a:ea typeface="Roboto Light"/>
                <a:cs typeface="Roboto Light"/>
                <a:sym typeface="Roboto Light"/>
              </a:rPr>
              <a:t> (2x a trimester)</a:t>
            </a:r>
            <a:endParaRPr>
              <a:solidFill>
                <a:schemeClr val="dk1"/>
              </a:solidFill>
              <a:latin typeface="Roboto Light"/>
              <a:ea typeface="Roboto Light"/>
              <a:cs typeface="Roboto Light"/>
              <a:sym typeface="Robo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pic>
        <p:nvPicPr>
          <p:cNvPr id="141" name="Google Shape;141;p29"/>
          <p:cNvPicPr preferRelativeResize="0"/>
          <p:nvPr/>
        </p:nvPicPr>
        <p:blipFill rotWithShape="1">
          <a:blip r:embed="rId4">
            <a:alphaModFix/>
          </a:blip>
          <a:srcRect b="65391" l="0" r="50253" t="0"/>
          <a:stretch/>
        </p:blipFill>
        <p:spPr>
          <a:xfrm>
            <a:off x="934150" y="-379825"/>
            <a:ext cx="2905550" cy="1137000"/>
          </a:xfrm>
          <a:prstGeom prst="rect">
            <a:avLst/>
          </a:prstGeom>
          <a:noFill/>
          <a:ln>
            <a:noFill/>
          </a:ln>
        </p:spPr>
      </p:pic>
      <p:sp>
        <p:nvSpPr>
          <p:cNvPr id="142" name="Google Shape;142;p29"/>
          <p:cNvSpPr txBox="1"/>
          <p:nvPr>
            <p:ph type="ctrTitle"/>
          </p:nvPr>
        </p:nvSpPr>
        <p:spPr>
          <a:xfrm>
            <a:off x="1581025" y="1247900"/>
            <a:ext cx="6224700" cy="186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100">
                <a:solidFill>
                  <a:srgbClr val="FFFFFF"/>
                </a:solidFill>
                <a:latin typeface="Roboto Medium"/>
                <a:ea typeface="Roboto Medium"/>
                <a:cs typeface="Roboto Medium"/>
                <a:sym typeface="Roboto Medium"/>
              </a:rPr>
              <a:t>Bi-Annual </a:t>
            </a:r>
            <a:r>
              <a:rPr lang="en" sz="5100">
                <a:solidFill>
                  <a:srgbClr val="FFFFFF"/>
                </a:solidFill>
                <a:latin typeface="Roboto Medium"/>
                <a:ea typeface="Roboto Medium"/>
                <a:cs typeface="Roboto Medium"/>
                <a:sym typeface="Roboto Medium"/>
              </a:rPr>
              <a:t>Performance </a:t>
            </a:r>
            <a:r>
              <a:rPr lang="en" sz="5100">
                <a:solidFill>
                  <a:srgbClr val="FFFFFF"/>
                </a:solidFill>
                <a:latin typeface="Roboto Medium"/>
                <a:ea typeface="Roboto Medium"/>
                <a:cs typeface="Roboto Medium"/>
                <a:sym typeface="Roboto Medium"/>
              </a:rPr>
              <a:t>Review</a:t>
            </a:r>
            <a:endParaRPr sz="5100">
              <a:solidFill>
                <a:srgbClr val="FFFFFF"/>
              </a:solidFill>
              <a:latin typeface="Roboto Medium"/>
              <a:ea typeface="Roboto Medium"/>
              <a:cs typeface="Roboto Medium"/>
              <a:sym typeface="Roboto Medium"/>
            </a:endParaRPr>
          </a:p>
        </p:txBody>
      </p:sp>
      <p:sp>
        <p:nvSpPr>
          <p:cNvPr id="143" name="Google Shape;143;p29"/>
          <p:cNvSpPr/>
          <p:nvPr/>
        </p:nvSpPr>
        <p:spPr>
          <a:xfrm>
            <a:off x="0" y="4956950"/>
            <a:ext cx="9144000" cy="186600"/>
          </a:xfrm>
          <a:prstGeom prst="rect">
            <a:avLst/>
          </a:prstGeom>
          <a:solidFill>
            <a:srgbClr val="00BB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29"/>
          <p:cNvPicPr preferRelativeResize="0"/>
          <p:nvPr/>
        </p:nvPicPr>
        <p:blipFill>
          <a:blip r:embed="rId5">
            <a:alphaModFix/>
          </a:blip>
          <a:stretch>
            <a:fillRect/>
          </a:stretch>
        </p:blipFill>
        <p:spPr>
          <a:xfrm>
            <a:off x="8052535" y="4602775"/>
            <a:ext cx="841825" cy="172425"/>
          </a:xfrm>
          <a:prstGeom prst="rect">
            <a:avLst/>
          </a:prstGeom>
          <a:noFill/>
          <a:ln>
            <a:noFill/>
          </a:ln>
        </p:spPr>
      </p:pic>
      <p:pic>
        <p:nvPicPr>
          <p:cNvPr id="145" name="Google Shape;145;p29"/>
          <p:cNvPicPr preferRelativeResize="0"/>
          <p:nvPr/>
        </p:nvPicPr>
        <p:blipFill>
          <a:blip r:embed="rId6">
            <a:alphaModFix/>
          </a:blip>
          <a:stretch>
            <a:fillRect/>
          </a:stretch>
        </p:blipFill>
        <p:spPr>
          <a:xfrm>
            <a:off x="8225000" y="106701"/>
            <a:ext cx="1867200" cy="1867171"/>
          </a:xfrm>
          <a:prstGeom prst="rect">
            <a:avLst/>
          </a:prstGeom>
          <a:noFill/>
          <a:ln>
            <a:noFill/>
          </a:ln>
        </p:spPr>
      </p:pic>
      <p:sp>
        <p:nvSpPr>
          <p:cNvPr id="146" name="Google Shape;146;p29"/>
          <p:cNvSpPr/>
          <p:nvPr/>
        </p:nvSpPr>
        <p:spPr>
          <a:xfrm rot="5400000">
            <a:off x="256500" y="417600"/>
            <a:ext cx="774900" cy="1359000"/>
          </a:xfrm>
          <a:prstGeom prst="rect">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 name="Google Shape;147;p29"/>
          <p:cNvPicPr preferRelativeResize="0"/>
          <p:nvPr/>
        </p:nvPicPr>
        <p:blipFill rotWithShape="1">
          <a:blip r:embed="rId4">
            <a:alphaModFix/>
          </a:blip>
          <a:srcRect b="65391" l="0" r="50253" t="0"/>
          <a:stretch/>
        </p:blipFill>
        <p:spPr>
          <a:xfrm>
            <a:off x="1388575" y="204350"/>
            <a:ext cx="2905550" cy="1137000"/>
          </a:xfrm>
          <a:prstGeom prst="rect">
            <a:avLst/>
          </a:prstGeom>
          <a:noFill/>
          <a:ln>
            <a:noFill/>
          </a:ln>
        </p:spPr>
      </p:pic>
      <p:pic>
        <p:nvPicPr>
          <p:cNvPr id="148" name="Google Shape;148;p29"/>
          <p:cNvPicPr preferRelativeResize="0"/>
          <p:nvPr/>
        </p:nvPicPr>
        <p:blipFill rotWithShape="1">
          <a:blip r:embed="rId7">
            <a:alphaModFix/>
          </a:blip>
          <a:srcRect b="24121" l="22842" r="17796" t="31739"/>
          <a:stretch/>
        </p:blipFill>
        <p:spPr>
          <a:xfrm>
            <a:off x="6683925" y="3038475"/>
            <a:ext cx="979351" cy="558425"/>
          </a:xfrm>
          <a:prstGeom prst="rect">
            <a:avLst/>
          </a:prstGeom>
          <a:noFill/>
          <a:ln>
            <a:noFill/>
          </a:ln>
        </p:spPr>
      </p:pic>
      <p:pic>
        <p:nvPicPr>
          <p:cNvPr id="149" name="Google Shape;149;p29"/>
          <p:cNvPicPr preferRelativeResize="0"/>
          <p:nvPr/>
        </p:nvPicPr>
        <p:blipFill rotWithShape="1">
          <a:blip r:embed="rId8">
            <a:alphaModFix/>
          </a:blip>
          <a:srcRect b="17142" l="36831" r="32480" t="18094"/>
          <a:stretch/>
        </p:blipFill>
        <p:spPr>
          <a:xfrm rot="-900020">
            <a:off x="317142" y="4195363"/>
            <a:ext cx="447315" cy="53099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pic>
        <p:nvPicPr>
          <p:cNvPr id="154" name="Google Shape;154;p30"/>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55" name="Google Shape;155;p30"/>
          <p:cNvSpPr txBox="1"/>
          <p:nvPr>
            <p:ph type="title"/>
          </p:nvPr>
        </p:nvSpPr>
        <p:spPr>
          <a:xfrm>
            <a:off x="311700" y="260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Bi-Annual </a:t>
            </a:r>
            <a:r>
              <a:rPr b="1" lang="en" sz="2200">
                <a:latin typeface="Merriweather"/>
                <a:ea typeface="Merriweather"/>
                <a:cs typeface="Merriweather"/>
                <a:sym typeface="Merriweather"/>
              </a:rPr>
              <a:t>Performance </a:t>
            </a:r>
            <a:r>
              <a:rPr b="1" lang="en" sz="2200">
                <a:latin typeface="Merriweather"/>
                <a:ea typeface="Merriweather"/>
                <a:cs typeface="Merriweather"/>
                <a:sym typeface="Merriweather"/>
              </a:rPr>
              <a:t>Review</a:t>
            </a:r>
            <a:endParaRPr b="1" sz="2200">
              <a:latin typeface="Merriweather"/>
              <a:ea typeface="Merriweather"/>
              <a:cs typeface="Merriweather"/>
              <a:sym typeface="Merriweather"/>
            </a:endParaRPr>
          </a:p>
        </p:txBody>
      </p:sp>
      <p:sp>
        <p:nvSpPr>
          <p:cNvPr id="156" name="Google Shape;156;p30"/>
          <p:cNvSpPr txBox="1"/>
          <p:nvPr>
            <p:ph idx="1" type="body"/>
          </p:nvPr>
        </p:nvSpPr>
        <p:spPr>
          <a:xfrm>
            <a:off x="893725" y="1235875"/>
            <a:ext cx="7120500" cy="2403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Light"/>
              <a:buChar char="●"/>
            </a:pPr>
            <a:r>
              <a:rPr lang="en">
                <a:solidFill>
                  <a:schemeClr val="dk1"/>
                </a:solidFill>
                <a:latin typeface="Roboto Light"/>
                <a:ea typeface="Roboto Light"/>
                <a:cs typeface="Roboto Light"/>
                <a:sym typeface="Roboto Light"/>
              </a:rPr>
              <a:t>Review cycles are based on the employees start date and happen bi-annually (every 6-months) including a self-review and a manager review</a:t>
            </a:r>
            <a:endParaRPr>
              <a:solidFill>
                <a:schemeClr val="dk1"/>
              </a:solidFill>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highlight>
                  <a:srgbClr val="FFFFFF"/>
                </a:highlight>
                <a:latin typeface="Roboto Light"/>
                <a:ea typeface="Roboto Light"/>
                <a:cs typeface="Roboto Light"/>
                <a:sym typeface="Roboto Light"/>
              </a:rPr>
              <a:t>Reviews are a checkpoint, with the standard that an employee should never be surprised by anything brought up in the meeting</a:t>
            </a:r>
            <a:endParaRPr>
              <a:solidFill>
                <a:schemeClr val="dk1"/>
              </a:solidFill>
              <a:highlight>
                <a:srgbClr val="FFFFFF"/>
              </a:highlight>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highlight>
                  <a:srgbClr val="FFFFFF"/>
                </a:highlight>
                <a:latin typeface="Roboto Light"/>
                <a:ea typeface="Roboto Light"/>
                <a:cs typeface="Roboto Light"/>
                <a:sym typeface="Roboto Light"/>
              </a:rPr>
              <a:t>Revised questions by </a:t>
            </a:r>
            <a:r>
              <a:rPr b="1" lang="en">
                <a:solidFill>
                  <a:schemeClr val="dk1"/>
                </a:solidFill>
                <a:highlight>
                  <a:srgbClr val="FFFFFF"/>
                </a:highlight>
                <a:latin typeface="Roboto"/>
                <a:ea typeface="Roboto"/>
                <a:cs typeface="Roboto"/>
                <a:sym typeface="Roboto"/>
              </a:rPr>
              <a:t>reducing the number of employee questions from 14 to 5</a:t>
            </a:r>
            <a:r>
              <a:rPr lang="en">
                <a:solidFill>
                  <a:schemeClr val="dk1"/>
                </a:solidFill>
                <a:highlight>
                  <a:srgbClr val="FFFFFF"/>
                </a:highlight>
                <a:latin typeface="Roboto Light"/>
                <a:ea typeface="Roboto Light"/>
                <a:cs typeface="Roboto Light"/>
                <a:sym typeface="Roboto Light"/>
              </a:rPr>
              <a:t> and matching them with the questions managers answer to create consistent topics both people are reviewing</a:t>
            </a:r>
            <a:endParaRPr>
              <a:solidFill>
                <a:schemeClr val="dk1"/>
              </a:solidFill>
              <a:highlight>
                <a:srgbClr val="FFFFFF"/>
              </a:highlight>
              <a:latin typeface="Roboto Light"/>
              <a:ea typeface="Roboto Light"/>
              <a:cs typeface="Roboto Light"/>
              <a:sym typeface="Roboto Light"/>
            </a:endParaRPr>
          </a:p>
          <a:p>
            <a:pPr indent="-317500" lvl="0" marL="457200" rtl="0" algn="l">
              <a:spcBef>
                <a:spcPts val="0"/>
              </a:spcBef>
              <a:spcAft>
                <a:spcPts val="0"/>
              </a:spcAft>
              <a:buClr>
                <a:schemeClr val="dk1"/>
              </a:buClr>
              <a:buSzPts val="1400"/>
              <a:buFont typeface="Roboto Light"/>
              <a:buChar char="●"/>
            </a:pPr>
            <a:r>
              <a:rPr lang="en">
                <a:solidFill>
                  <a:schemeClr val="dk1"/>
                </a:solidFill>
                <a:highlight>
                  <a:srgbClr val="FFFFFF"/>
                </a:highlight>
                <a:latin typeface="Roboto Light"/>
                <a:ea typeface="Roboto Light"/>
                <a:cs typeface="Roboto Light"/>
                <a:sym typeface="Roboto Light"/>
              </a:rPr>
              <a:t>Track metrics using Lattice usage data</a:t>
            </a:r>
            <a:endParaRPr>
              <a:solidFill>
                <a:schemeClr val="dk1"/>
              </a:solidFill>
              <a:highlight>
                <a:srgbClr val="FFFFFF"/>
              </a:highlight>
              <a:latin typeface="Roboto Light"/>
              <a:ea typeface="Roboto Light"/>
              <a:cs typeface="Roboto Light"/>
              <a:sym typeface="Roboto Light"/>
            </a:endParaRPr>
          </a:p>
        </p:txBody>
      </p:sp>
      <p:sp>
        <p:nvSpPr>
          <p:cNvPr id="157" name="Google Shape;157;p30"/>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30"/>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159" name="Google Shape;159;p30"/>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pic>
        <p:nvPicPr>
          <p:cNvPr id="164" name="Google Shape;164;p31"/>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65" name="Google Shape;165;p31"/>
          <p:cNvSpPr txBox="1"/>
          <p:nvPr>
            <p:ph type="title"/>
          </p:nvPr>
        </p:nvSpPr>
        <p:spPr>
          <a:xfrm>
            <a:off x="311700" y="3183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Bi-Annual </a:t>
            </a:r>
            <a:r>
              <a:rPr b="1" lang="en" sz="2200">
                <a:latin typeface="Merriweather"/>
                <a:ea typeface="Merriweather"/>
                <a:cs typeface="Merriweather"/>
                <a:sym typeface="Merriweather"/>
              </a:rPr>
              <a:t>Performance</a:t>
            </a:r>
            <a:r>
              <a:rPr b="1" lang="en" sz="2200">
                <a:latin typeface="Merriweather"/>
                <a:ea typeface="Merriweather"/>
                <a:cs typeface="Merriweather"/>
                <a:sym typeface="Merriweather"/>
              </a:rPr>
              <a:t> Review, </a:t>
            </a:r>
            <a:r>
              <a:rPr b="1" lang="en" sz="2200">
                <a:solidFill>
                  <a:srgbClr val="333333"/>
                </a:solidFill>
                <a:latin typeface="Merriweather"/>
                <a:ea typeface="Merriweather"/>
                <a:cs typeface="Merriweather"/>
                <a:sym typeface="Merriweather"/>
              </a:rPr>
              <a:t>Self Review</a:t>
            </a:r>
            <a:endParaRPr b="1" sz="2200">
              <a:solidFill>
                <a:srgbClr val="333333"/>
              </a:solidFill>
              <a:latin typeface="Merriweather"/>
              <a:ea typeface="Merriweather"/>
              <a:cs typeface="Merriweather"/>
              <a:sym typeface="Merriweather"/>
            </a:endParaRPr>
          </a:p>
        </p:txBody>
      </p:sp>
      <p:sp>
        <p:nvSpPr>
          <p:cNvPr id="166" name="Google Shape;166;p31"/>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 name="Google Shape;167;p31"/>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168" name="Google Shape;168;p31"/>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1"/>
          <p:cNvSpPr txBox="1"/>
          <p:nvPr>
            <p:ph idx="4294967295" type="body"/>
          </p:nvPr>
        </p:nvSpPr>
        <p:spPr>
          <a:xfrm>
            <a:off x="524150" y="1279200"/>
            <a:ext cx="8190000" cy="3316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AutoNum type="arabicPeriod"/>
            </a:pPr>
            <a:r>
              <a:rPr b="1" lang="en" sz="1200">
                <a:solidFill>
                  <a:schemeClr val="dk1"/>
                </a:solidFill>
                <a:latin typeface="Roboto"/>
                <a:ea typeface="Roboto"/>
                <a:cs typeface="Roboto"/>
                <a:sym typeface="Roboto"/>
              </a:rPr>
              <a:t>What went well in the previous 6 months?</a:t>
            </a:r>
            <a:endParaRPr b="1" sz="1200">
              <a:solidFill>
                <a:schemeClr val="dk1"/>
              </a:solidFill>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lang="en" sz="1000">
                <a:solidFill>
                  <a:schemeClr val="dk1"/>
                </a:solidFill>
                <a:latin typeface="Roboto Light"/>
                <a:ea typeface="Roboto Light"/>
                <a:cs typeface="Roboto Light"/>
                <a:sym typeface="Roboto Light"/>
              </a:rPr>
              <a:t> </a:t>
            </a:r>
            <a:r>
              <a:rPr i="1" lang="en" sz="1000">
                <a:solidFill>
                  <a:schemeClr val="dk1"/>
                </a:solidFill>
                <a:latin typeface="Roboto Light"/>
                <a:ea typeface="Roboto Light"/>
                <a:cs typeface="Roboto Light"/>
                <a:sym typeface="Roboto Light"/>
              </a:rPr>
              <a:t>Think of things you're proud of accomplishing, big or small, we want to hear it all!</a:t>
            </a:r>
            <a:endParaRPr i="1" sz="1000">
              <a:solidFill>
                <a:schemeClr val="dk1"/>
              </a:solidFill>
              <a:latin typeface="Roboto Light"/>
              <a:ea typeface="Roboto Light"/>
              <a:cs typeface="Roboto Light"/>
              <a:sym typeface="Roboto Light"/>
            </a:endParaRPr>
          </a:p>
          <a:p>
            <a:pPr indent="-292100" lvl="2" marL="1371600" rtl="0" algn="l">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Comment</a:t>
            </a:r>
            <a:endParaRPr sz="10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latin typeface="Roboto"/>
                <a:ea typeface="Roboto"/>
                <a:cs typeface="Roboto"/>
                <a:sym typeface="Roboto"/>
              </a:rPr>
              <a:t>What could have gone better in the previous 6 months?</a:t>
            </a:r>
            <a:endParaRPr b="1" sz="1200">
              <a:solidFill>
                <a:schemeClr val="dk1"/>
              </a:solidFill>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i="1" lang="en" sz="1000">
                <a:solidFill>
                  <a:schemeClr val="dk1"/>
                </a:solidFill>
                <a:latin typeface="Roboto Light"/>
                <a:ea typeface="Roboto Light"/>
                <a:cs typeface="Roboto Light"/>
                <a:sym typeface="Roboto Light"/>
              </a:rPr>
              <a:t> Think of things you're not as proud of or moments you learned from.</a:t>
            </a:r>
            <a:endParaRPr b="1" sz="1200">
              <a:solidFill>
                <a:schemeClr val="dk1"/>
              </a:solidFill>
              <a:latin typeface="Roboto"/>
              <a:ea typeface="Roboto"/>
              <a:cs typeface="Roboto"/>
              <a:sym typeface="Roboto"/>
            </a:endParaRPr>
          </a:p>
          <a:p>
            <a:pPr indent="-292100" lvl="2" marL="1371600" rtl="0" algn="l">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Comment</a:t>
            </a:r>
            <a:endParaRPr sz="10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latin typeface="Roboto"/>
                <a:ea typeface="Roboto"/>
                <a:cs typeface="Roboto"/>
                <a:sym typeface="Roboto"/>
              </a:rPr>
              <a:t>To w</a:t>
            </a:r>
            <a:r>
              <a:rPr b="1" lang="en" sz="1200">
                <a:solidFill>
                  <a:schemeClr val="dk1"/>
                </a:solidFill>
                <a:latin typeface="Roboto"/>
                <a:ea typeface="Roboto"/>
                <a:cs typeface="Roboto"/>
                <a:sym typeface="Roboto"/>
              </a:rPr>
              <a:t>hat extent are you meeting your assigned Objectives in Lattice?</a:t>
            </a:r>
            <a:endParaRPr b="1" sz="1200">
              <a:solidFill>
                <a:schemeClr val="dk1"/>
              </a:solidFill>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b="1" lang="en" sz="1200">
                <a:solidFill>
                  <a:schemeClr val="dk1"/>
                </a:solidFill>
                <a:latin typeface="Roboto"/>
                <a:ea typeface="Roboto"/>
                <a:cs typeface="Roboto"/>
                <a:sym typeface="Roboto"/>
              </a:rPr>
              <a:t>: </a:t>
            </a:r>
            <a:r>
              <a:rPr i="1" lang="en" sz="1000">
                <a:solidFill>
                  <a:schemeClr val="dk1"/>
                </a:solidFill>
                <a:latin typeface="Roboto Light"/>
                <a:ea typeface="Roboto Light"/>
                <a:cs typeface="Roboto Light"/>
                <a:sym typeface="Roboto Light"/>
              </a:rPr>
              <a:t>Please explain the reason for your answer using the comment field below.</a:t>
            </a:r>
            <a:endParaRPr b="1" sz="1200">
              <a:solidFill>
                <a:schemeClr val="dk1"/>
              </a:solidFill>
              <a:latin typeface="Roboto"/>
              <a:ea typeface="Roboto"/>
              <a:cs typeface="Roboto"/>
              <a:sym typeface="Roboto"/>
            </a:endParaRPr>
          </a:p>
          <a:p>
            <a:pPr indent="-292100" lvl="2" marL="1371600" rtl="0" algn="l">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Rating and Comment</a:t>
            </a:r>
            <a:endParaRPr sz="1000">
              <a:solidFill>
                <a:schemeClr val="dk1"/>
              </a:solidFill>
              <a:latin typeface="Roboto Light"/>
              <a:ea typeface="Roboto Light"/>
              <a:cs typeface="Roboto Light"/>
              <a:sym typeface="Roboto Light"/>
            </a:endParaRPr>
          </a:p>
          <a:p>
            <a:pPr indent="-292100" lvl="2" marL="1371600" rtl="0" algn="l">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Developing, Performing, Exceeding with </a:t>
            </a:r>
            <a:r>
              <a:rPr lang="en" sz="1000">
                <a:solidFill>
                  <a:schemeClr val="dk1"/>
                </a:solidFill>
                <a:latin typeface="Roboto Light"/>
                <a:ea typeface="Roboto Light"/>
                <a:cs typeface="Roboto Light"/>
                <a:sym typeface="Roboto Light"/>
              </a:rPr>
              <a:t>definitions</a:t>
            </a:r>
            <a:r>
              <a:rPr lang="en" sz="1000">
                <a:solidFill>
                  <a:schemeClr val="dk1"/>
                </a:solidFill>
                <a:latin typeface="Roboto Light"/>
                <a:ea typeface="Roboto Light"/>
                <a:cs typeface="Roboto Light"/>
                <a:sym typeface="Roboto Light"/>
              </a:rPr>
              <a:t> </a:t>
            </a:r>
            <a:endParaRPr sz="10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latin typeface="Roboto"/>
                <a:ea typeface="Roboto"/>
                <a:cs typeface="Roboto"/>
                <a:sym typeface="Roboto"/>
              </a:rPr>
              <a:t>What skills, and/or behaviors would you like to improve in the next 6 months to move you closer to your career goals?</a:t>
            </a:r>
            <a:endParaRPr b="1" sz="1200">
              <a:solidFill>
                <a:schemeClr val="dk1"/>
              </a:solidFill>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latin typeface="Roboto Light"/>
                <a:ea typeface="Roboto Light"/>
                <a:cs typeface="Roboto Light"/>
                <a:sym typeface="Roboto Light"/>
              </a:rPr>
              <a:t>Comment</a:t>
            </a:r>
            <a:endParaRPr sz="10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latin typeface="Roboto"/>
                <a:ea typeface="Roboto"/>
                <a:cs typeface="Roboto"/>
                <a:sym typeface="Roboto"/>
              </a:rPr>
              <a:t>I consistently embodied Directive values in the previous 6 months.</a:t>
            </a:r>
            <a:endParaRPr b="1" sz="1200">
              <a:solidFill>
                <a:schemeClr val="dk1"/>
              </a:solidFill>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b="1" lang="en" sz="1200">
                <a:solidFill>
                  <a:schemeClr val="dk1"/>
                </a:solidFill>
                <a:latin typeface="Roboto"/>
                <a:ea typeface="Roboto"/>
                <a:cs typeface="Roboto"/>
                <a:sym typeface="Roboto"/>
              </a:rPr>
              <a:t>: </a:t>
            </a:r>
            <a:r>
              <a:rPr i="1" lang="en" sz="1000">
                <a:solidFill>
                  <a:schemeClr val="dk1"/>
                </a:solidFill>
                <a:latin typeface="Roboto Light"/>
                <a:ea typeface="Roboto Light"/>
                <a:cs typeface="Roboto Light"/>
                <a:sym typeface="Roboto Light"/>
              </a:rPr>
              <a:t>Values listed</a:t>
            </a:r>
            <a:endParaRPr b="1" sz="1200">
              <a:solidFill>
                <a:schemeClr val="dk1"/>
              </a:solidFill>
              <a:latin typeface="Roboto"/>
              <a:ea typeface="Roboto"/>
              <a:cs typeface="Roboto"/>
              <a:sym typeface="Roboto"/>
            </a:endParaRPr>
          </a:p>
          <a:p>
            <a:pPr indent="-292100" lvl="2" marL="1371600" rtl="0" algn="l">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Rating (Likert Scale) and Comment</a:t>
            </a:r>
            <a:endParaRPr sz="1000">
              <a:solidFill>
                <a:schemeClr val="dk1"/>
              </a:solidFill>
              <a:latin typeface="Roboto Light"/>
              <a:ea typeface="Roboto Light"/>
              <a:cs typeface="Roboto Light"/>
              <a:sym typeface="Robo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 name="Shape 173"/>
        <p:cNvGrpSpPr/>
        <p:nvPr/>
      </p:nvGrpSpPr>
      <p:grpSpPr>
        <a:xfrm>
          <a:off x="0" y="0"/>
          <a:ext cx="0" cy="0"/>
          <a:chOff x="0" y="0"/>
          <a:chExt cx="0" cy="0"/>
        </a:xfrm>
      </p:grpSpPr>
      <p:pic>
        <p:nvPicPr>
          <p:cNvPr id="174" name="Google Shape;174;p32"/>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75" name="Google Shape;175;p32"/>
          <p:cNvSpPr txBox="1"/>
          <p:nvPr>
            <p:ph type="title"/>
          </p:nvPr>
        </p:nvSpPr>
        <p:spPr>
          <a:xfrm>
            <a:off x="311700" y="261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Preview of 2022 Self Review in Lattice</a:t>
            </a:r>
            <a:endParaRPr b="1" sz="2200">
              <a:latin typeface="Merriweather"/>
              <a:ea typeface="Merriweather"/>
              <a:cs typeface="Merriweather"/>
              <a:sym typeface="Merriweather"/>
            </a:endParaRPr>
          </a:p>
        </p:txBody>
      </p:sp>
      <p:sp>
        <p:nvSpPr>
          <p:cNvPr id="176" name="Google Shape;176;p32"/>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 name="Google Shape;177;p32"/>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178" name="Google Shape;178;p32"/>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32"/>
          <p:cNvPicPr preferRelativeResize="0"/>
          <p:nvPr/>
        </p:nvPicPr>
        <p:blipFill>
          <a:blip r:embed="rId6">
            <a:alphaModFix/>
          </a:blip>
          <a:stretch>
            <a:fillRect/>
          </a:stretch>
        </p:blipFill>
        <p:spPr>
          <a:xfrm>
            <a:off x="967475" y="1154101"/>
            <a:ext cx="2948441" cy="3650451"/>
          </a:xfrm>
          <a:prstGeom prst="rect">
            <a:avLst/>
          </a:prstGeom>
          <a:noFill/>
          <a:ln>
            <a:noFill/>
          </a:ln>
        </p:spPr>
      </p:pic>
      <p:pic>
        <p:nvPicPr>
          <p:cNvPr id="180" name="Google Shape;180;p32"/>
          <p:cNvPicPr preferRelativeResize="0"/>
          <p:nvPr/>
        </p:nvPicPr>
        <p:blipFill>
          <a:blip r:embed="rId7">
            <a:alphaModFix/>
          </a:blip>
          <a:stretch>
            <a:fillRect/>
          </a:stretch>
        </p:blipFill>
        <p:spPr>
          <a:xfrm>
            <a:off x="4800370" y="1069800"/>
            <a:ext cx="2865331" cy="37232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pic>
        <p:nvPicPr>
          <p:cNvPr id="185" name="Google Shape;185;p33"/>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86" name="Google Shape;186;p33"/>
          <p:cNvSpPr txBox="1"/>
          <p:nvPr>
            <p:ph type="title"/>
          </p:nvPr>
        </p:nvSpPr>
        <p:spPr>
          <a:xfrm>
            <a:off x="311700" y="3847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Merriweather"/>
                <a:ea typeface="Merriweather"/>
                <a:cs typeface="Merriweather"/>
                <a:sym typeface="Merriweather"/>
              </a:rPr>
              <a:t>Bi-Annual </a:t>
            </a:r>
            <a:r>
              <a:rPr b="1" lang="en" sz="2100">
                <a:latin typeface="Merriweather"/>
                <a:ea typeface="Merriweather"/>
                <a:cs typeface="Merriweather"/>
                <a:sym typeface="Merriweather"/>
              </a:rPr>
              <a:t>Performance </a:t>
            </a:r>
            <a:r>
              <a:rPr b="1" lang="en" sz="2100">
                <a:latin typeface="Merriweather"/>
                <a:ea typeface="Merriweather"/>
                <a:cs typeface="Merriweather"/>
                <a:sym typeface="Merriweather"/>
              </a:rPr>
              <a:t>Review, Manager </a:t>
            </a:r>
            <a:r>
              <a:rPr b="1" lang="en" sz="1400">
                <a:latin typeface="Merriweather"/>
                <a:ea typeface="Merriweather"/>
                <a:cs typeface="Merriweather"/>
                <a:sym typeface="Merriweather"/>
              </a:rPr>
              <a:t>(*Downward) </a:t>
            </a:r>
            <a:r>
              <a:rPr b="1" lang="en" sz="2100">
                <a:latin typeface="Merriweather"/>
                <a:ea typeface="Merriweather"/>
                <a:cs typeface="Merriweather"/>
                <a:sym typeface="Merriweather"/>
              </a:rPr>
              <a:t>Review</a:t>
            </a:r>
            <a:endParaRPr b="1" sz="2100">
              <a:solidFill>
                <a:srgbClr val="E1523D"/>
              </a:solidFill>
              <a:latin typeface="Merriweather"/>
              <a:ea typeface="Merriweather"/>
              <a:cs typeface="Merriweather"/>
              <a:sym typeface="Merriweather"/>
            </a:endParaRPr>
          </a:p>
        </p:txBody>
      </p:sp>
      <p:sp>
        <p:nvSpPr>
          <p:cNvPr id="187" name="Google Shape;187;p33"/>
          <p:cNvSpPr txBox="1"/>
          <p:nvPr>
            <p:ph idx="1" type="body"/>
          </p:nvPr>
        </p:nvSpPr>
        <p:spPr>
          <a:xfrm>
            <a:off x="373800" y="1098425"/>
            <a:ext cx="8050500" cy="36840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Light"/>
              <a:buAutoNum type="arabicPeriod"/>
            </a:pPr>
            <a:r>
              <a:rPr b="1" lang="en" sz="1200">
                <a:solidFill>
                  <a:schemeClr val="dk1"/>
                </a:solidFill>
                <a:latin typeface="Roboto"/>
                <a:ea typeface="Roboto"/>
                <a:cs typeface="Roboto"/>
                <a:sym typeface="Roboto"/>
              </a:rPr>
              <a:t>What went well in the previous 6 months?</a:t>
            </a:r>
            <a:endParaRPr b="1" sz="12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lang="en" sz="1000">
                <a:solidFill>
                  <a:schemeClr val="dk1"/>
                </a:solidFill>
                <a:latin typeface="Roboto Light"/>
                <a:ea typeface="Roboto Light"/>
                <a:cs typeface="Roboto Light"/>
                <a:sym typeface="Roboto Light"/>
              </a:rPr>
              <a:t> </a:t>
            </a:r>
            <a:r>
              <a:rPr i="1" lang="en" sz="1000">
                <a:solidFill>
                  <a:schemeClr val="dk1"/>
                </a:solidFill>
                <a:latin typeface="Roboto Light"/>
                <a:ea typeface="Roboto Light"/>
                <a:cs typeface="Roboto Light"/>
                <a:sym typeface="Roboto Light"/>
              </a:rPr>
              <a:t>Think of things you're proud of accomplishing, big or small, we want to hear them all!</a:t>
            </a:r>
            <a:endParaRPr b="1" sz="1100">
              <a:solidFill>
                <a:schemeClr val="dk1"/>
              </a:solidFill>
              <a:latin typeface="Roboto"/>
              <a:ea typeface="Roboto"/>
              <a:cs typeface="Roboto"/>
              <a:sym typeface="Roboto"/>
            </a:endParaRPr>
          </a:p>
          <a:p>
            <a:pPr indent="-292100" lvl="2" marL="1371600" rtl="0" algn="l">
              <a:lnSpc>
                <a:spcPct val="115000"/>
              </a:lnSpc>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Comment</a:t>
            </a:r>
            <a:endParaRPr sz="1000">
              <a:solidFill>
                <a:schemeClr val="dk1"/>
              </a:solidFill>
              <a:latin typeface="Roboto Light"/>
              <a:ea typeface="Roboto Light"/>
              <a:cs typeface="Roboto Light"/>
              <a:sym typeface="Roboto Light"/>
            </a:endParaRPr>
          </a:p>
          <a:p>
            <a:pPr indent="-304800" lvl="0" marL="457200" rtl="0" algn="l">
              <a:lnSpc>
                <a:spcPct val="115000"/>
              </a:lnSpc>
              <a:spcBef>
                <a:spcPts val="0"/>
              </a:spcBef>
              <a:spcAft>
                <a:spcPts val="0"/>
              </a:spcAft>
              <a:buClr>
                <a:schemeClr val="dk1"/>
              </a:buClr>
              <a:buSzPts val="1200"/>
              <a:buFont typeface="Roboto Light"/>
              <a:buAutoNum type="arabicPeriod"/>
            </a:pPr>
            <a:r>
              <a:rPr b="1" lang="en" sz="1200">
                <a:solidFill>
                  <a:schemeClr val="dk1"/>
                </a:solidFill>
                <a:latin typeface="Roboto"/>
                <a:ea typeface="Roboto"/>
                <a:cs typeface="Roboto"/>
                <a:sym typeface="Roboto"/>
              </a:rPr>
              <a:t>What could have gone better in the previous 6 months?</a:t>
            </a:r>
            <a:endParaRPr b="1" sz="12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lang="en" sz="1000">
                <a:solidFill>
                  <a:schemeClr val="dk1"/>
                </a:solidFill>
                <a:latin typeface="Roboto Light"/>
                <a:ea typeface="Roboto Light"/>
                <a:cs typeface="Roboto Light"/>
                <a:sym typeface="Roboto Light"/>
              </a:rPr>
              <a:t> </a:t>
            </a:r>
            <a:r>
              <a:rPr i="1" lang="en" sz="1000">
                <a:solidFill>
                  <a:schemeClr val="dk1"/>
                </a:solidFill>
                <a:latin typeface="Roboto Light"/>
                <a:ea typeface="Roboto Light"/>
                <a:cs typeface="Roboto Light"/>
                <a:sym typeface="Roboto Light"/>
              </a:rPr>
              <a:t>Think of teachable moments and things you’d like to have seen be better.</a:t>
            </a:r>
            <a:endParaRPr b="1" sz="1100">
              <a:solidFill>
                <a:schemeClr val="dk1"/>
              </a:solidFill>
              <a:latin typeface="Roboto"/>
              <a:ea typeface="Roboto"/>
              <a:cs typeface="Roboto"/>
              <a:sym typeface="Roboto"/>
            </a:endParaRPr>
          </a:p>
          <a:p>
            <a:pPr indent="-292100" lvl="2" marL="1371600" rtl="0" algn="l">
              <a:lnSpc>
                <a:spcPct val="115000"/>
              </a:lnSpc>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Comment</a:t>
            </a:r>
            <a:endParaRPr sz="1000">
              <a:solidFill>
                <a:schemeClr val="dk1"/>
              </a:solidFill>
              <a:latin typeface="Roboto Light"/>
              <a:ea typeface="Roboto Light"/>
              <a:cs typeface="Roboto Light"/>
              <a:sym typeface="Roboto Light"/>
            </a:endParaRPr>
          </a:p>
          <a:p>
            <a:pPr indent="-304800" lvl="0" marL="457200" rtl="0" algn="l">
              <a:lnSpc>
                <a:spcPct val="115000"/>
              </a:lnSpc>
              <a:spcBef>
                <a:spcPts val="0"/>
              </a:spcBef>
              <a:spcAft>
                <a:spcPts val="0"/>
              </a:spcAft>
              <a:buClr>
                <a:schemeClr val="dk1"/>
              </a:buClr>
              <a:buSzPts val="1200"/>
              <a:buFont typeface="Roboto Light"/>
              <a:buAutoNum type="arabicPeriod"/>
            </a:pPr>
            <a:r>
              <a:rPr b="1" lang="en" sz="1200">
                <a:solidFill>
                  <a:schemeClr val="dk1"/>
                </a:solidFill>
                <a:latin typeface="Roboto"/>
                <a:ea typeface="Roboto"/>
                <a:cs typeface="Roboto"/>
                <a:sym typeface="Roboto"/>
              </a:rPr>
              <a:t>To what extent is this person meeting their assigned Objectives in Lattice?</a:t>
            </a:r>
            <a:endParaRPr b="1" sz="12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b="1" lang="en">
                <a:solidFill>
                  <a:schemeClr val="dk1"/>
                </a:solidFill>
                <a:latin typeface="Roboto"/>
                <a:ea typeface="Roboto"/>
                <a:cs typeface="Roboto"/>
                <a:sym typeface="Roboto"/>
              </a:rPr>
              <a:t>: </a:t>
            </a:r>
            <a:r>
              <a:rPr i="1" lang="en" sz="1000">
                <a:solidFill>
                  <a:schemeClr val="dk1"/>
                </a:solidFill>
                <a:latin typeface="Roboto Light"/>
                <a:ea typeface="Roboto Light"/>
                <a:cs typeface="Roboto Light"/>
                <a:sym typeface="Roboto Light"/>
              </a:rPr>
              <a:t>Please explain the reason for your answer using the comment field below.</a:t>
            </a:r>
            <a:endParaRPr b="1" sz="1100">
              <a:solidFill>
                <a:schemeClr val="dk1"/>
              </a:solidFill>
              <a:latin typeface="Roboto"/>
              <a:ea typeface="Roboto"/>
              <a:cs typeface="Roboto"/>
              <a:sym typeface="Roboto"/>
            </a:endParaRPr>
          </a:p>
          <a:p>
            <a:pPr indent="-292100" lvl="2" marL="1371600" rtl="0" algn="l">
              <a:lnSpc>
                <a:spcPct val="115000"/>
              </a:lnSpc>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Rating and Comment</a:t>
            </a:r>
            <a:endParaRPr sz="1000">
              <a:solidFill>
                <a:schemeClr val="dk1"/>
              </a:solidFill>
              <a:latin typeface="Roboto Light"/>
              <a:ea typeface="Roboto Light"/>
              <a:cs typeface="Roboto Light"/>
              <a:sym typeface="Roboto Light"/>
            </a:endParaRPr>
          </a:p>
          <a:p>
            <a:pPr indent="-292100" lvl="2" marL="1371600" rtl="0" algn="l">
              <a:lnSpc>
                <a:spcPct val="115000"/>
              </a:lnSpc>
              <a:spcBef>
                <a:spcPts val="0"/>
              </a:spcBef>
              <a:spcAft>
                <a:spcPts val="0"/>
              </a:spcAft>
              <a:buClr>
                <a:schemeClr val="dk1"/>
              </a:buClr>
              <a:buSzPts val="1000"/>
              <a:buFont typeface="Roboto Light"/>
              <a:buAutoNum type="romanLcPeriod"/>
            </a:pPr>
            <a:r>
              <a:rPr lang="en" sz="1000">
                <a:solidFill>
                  <a:schemeClr val="dk1"/>
                </a:solidFill>
                <a:latin typeface="Roboto Light"/>
                <a:ea typeface="Roboto Light"/>
                <a:cs typeface="Roboto Light"/>
                <a:sym typeface="Roboto Light"/>
              </a:rPr>
              <a:t>Developing, Performing, Exceeding with definitions</a:t>
            </a:r>
            <a:endParaRPr sz="1000">
              <a:solidFill>
                <a:schemeClr val="dk1"/>
              </a:solidFill>
              <a:latin typeface="Roboto Light"/>
              <a:ea typeface="Roboto Light"/>
              <a:cs typeface="Roboto Light"/>
              <a:sym typeface="Roboto Light"/>
            </a:endParaRPr>
          </a:p>
          <a:p>
            <a:pPr indent="-304800" lvl="0" marL="457200" rtl="0" algn="l">
              <a:lnSpc>
                <a:spcPct val="115000"/>
              </a:lnSpc>
              <a:spcBef>
                <a:spcPts val="0"/>
              </a:spcBef>
              <a:spcAft>
                <a:spcPts val="0"/>
              </a:spcAft>
              <a:buClr>
                <a:schemeClr val="dk1"/>
              </a:buClr>
              <a:buSzPts val="1200"/>
              <a:buFont typeface="Roboto Light"/>
              <a:buAutoNum type="arabicPeriod"/>
            </a:pPr>
            <a:r>
              <a:rPr b="1" lang="en" sz="1200">
                <a:solidFill>
                  <a:schemeClr val="dk1"/>
                </a:solidFill>
                <a:latin typeface="Roboto"/>
                <a:ea typeface="Roboto"/>
                <a:cs typeface="Roboto"/>
                <a:sym typeface="Roboto"/>
              </a:rPr>
              <a:t>To what extent did this person accomplish the responsibilities and expectations of their role?</a:t>
            </a:r>
            <a:endParaRPr b="1" sz="12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b="1" lang="en">
                <a:solidFill>
                  <a:schemeClr val="dk1"/>
                </a:solidFill>
                <a:latin typeface="Roboto"/>
                <a:ea typeface="Roboto"/>
                <a:cs typeface="Roboto"/>
                <a:sym typeface="Roboto"/>
              </a:rPr>
              <a:t>: </a:t>
            </a:r>
            <a:r>
              <a:rPr i="1" lang="en" sz="1000">
                <a:solidFill>
                  <a:schemeClr val="dk1"/>
                </a:solidFill>
                <a:latin typeface="Roboto Light"/>
                <a:ea typeface="Roboto Light"/>
                <a:cs typeface="Roboto Light"/>
                <a:sym typeface="Roboto Light"/>
              </a:rPr>
              <a:t>When answering this question, please think of the Roles &amp; Responsibilities section of the relevant job description. Please explain the reason for your answer using the comment field below.</a:t>
            </a:r>
            <a:endParaRPr b="1" sz="1100">
              <a:solidFill>
                <a:schemeClr val="dk1"/>
              </a:solidFill>
              <a:latin typeface="Roboto"/>
              <a:ea typeface="Roboto"/>
              <a:cs typeface="Roboto"/>
              <a:sym typeface="Roboto"/>
            </a:endParaRPr>
          </a:p>
          <a:p>
            <a:pPr indent="-304800" lvl="2" marL="1371600" rtl="0" algn="l">
              <a:lnSpc>
                <a:spcPct val="115000"/>
              </a:lnSpc>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Rating and Comment</a:t>
            </a:r>
            <a:endParaRPr sz="1000">
              <a:solidFill>
                <a:schemeClr val="dk1"/>
              </a:solidFill>
              <a:latin typeface="Roboto Light"/>
              <a:ea typeface="Roboto Light"/>
              <a:cs typeface="Roboto Light"/>
              <a:sym typeface="Roboto Light"/>
            </a:endParaRPr>
          </a:p>
          <a:p>
            <a:pPr indent="-304800" lvl="2" marL="1371600" rtl="0" algn="l">
              <a:lnSpc>
                <a:spcPct val="115000"/>
              </a:lnSpc>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Developing: Below Expectations, Performing: Meets Expectations, Exceeding: Exceeds Expectations</a:t>
            </a:r>
            <a:endParaRPr sz="1000">
              <a:solidFill>
                <a:schemeClr val="dk1"/>
              </a:solidFill>
              <a:latin typeface="Roboto Light"/>
              <a:ea typeface="Roboto Light"/>
              <a:cs typeface="Roboto Light"/>
              <a:sym typeface="Roboto Light"/>
            </a:endParaRPr>
          </a:p>
        </p:txBody>
      </p:sp>
      <p:sp>
        <p:nvSpPr>
          <p:cNvPr id="188" name="Google Shape;188;p33"/>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 name="Google Shape;189;p33"/>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190" name="Google Shape;190;p33"/>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3"/>
          <p:cNvSpPr txBox="1"/>
          <p:nvPr/>
        </p:nvSpPr>
        <p:spPr>
          <a:xfrm>
            <a:off x="0" y="4685625"/>
            <a:ext cx="679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Roboto Light"/>
                <a:ea typeface="Roboto Light"/>
                <a:cs typeface="Roboto Light"/>
                <a:sym typeface="Roboto Light"/>
              </a:rPr>
              <a:t>*Downward means Manager reviewing a Direct Report</a:t>
            </a:r>
            <a:endParaRPr i="1" sz="1000">
              <a:latin typeface="Roboto Light"/>
              <a:ea typeface="Roboto Light"/>
              <a:cs typeface="Roboto Light"/>
              <a:sym typeface="Robot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pic>
        <p:nvPicPr>
          <p:cNvPr id="196" name="Google Shape;196;p34"/>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197" name="Google Shape;197;p34"/>
          <p:cNvSpPr txBox="1"/>
          <p:nvPr>
            <p:ph type="title"/>
          </p:nvPr>
        </p:nvSpPr>
        <p:spPr>
          <a:xfrm>
            <a:off x="311700" y="384725"/>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Merriweather"/>
                <a:ea typeface="Merriweather"/>
                <a:cs typeface="Merriweather"/>
                <a:sym typeface="Merriweather"/>
              </a:rPr>
              <a:t>Bi-Annual </a:t>
            </a:r>
            <a:r>
              <a:rPr b="1" lang="en" sz="2100">
                <a:latin typeface="Merriweather"/>
                <a:ea typeface="Merriweather"/>
                <a:cs typeface="Merriweather"/>
                <a:sym typeface="Merriweather"/>
              </a:rPr>
              <a:t>Performance </a:t>
            </a:r>
            <a:r>
              <a:rPr b="1" lang="en" sz="2100">
                <a:latin typeface="Merriweather"/>
                <a:ea typeface="Merriweather"/>
                <a:cs typeface="Merriweather"/>
                <a:sym typeface="Merriweather"/>
              </a:rPr>
              <a:t>Review, Manager </a:t>
            </a:r>
            <a:r>
              <a:rPr b="1" lang="en" sz="1400">
                <a:latin typeface="Merriweather"/>
                <a:ea typeface="Merriweather"/>
                <a:cs typeface="Merriweather"/>
                <a:sym typeface="Merriweather"/>
              </a:rPr>
              <a:t>(*Downward) </a:t>
            </a:r>
            <a:r>
              <a:rPr b="1" lang="en" sz="2100">
                <a:latin typeface="Merriweather"/>
                <a:ea typeface="Merriweather"/>
                <a:cs typeface="Merriweather"/>
                <a:sym typeface="Merriweather"/>
              </a:rPr>
              <a:t>Review</a:t>
            </a:r>
            <a:endParaRPr b="1" sz="2100">
              <a:solidFill>
                <a:srgbClr val="E1523D"/>
              </a:solidFill>
              <a:latin typeface="Merriweather"/>
              <a:ea typeface="Merriweather"/>
              <a:cs typeface="Merriweather"/>
              <a:sym typeface="Merriweather"/>
            </a:endParaRPr>
          </a:p>
        </p:txBody>
      </p:sp>
      <p:sp>
        <p:nvSpPr>
          <p:cNvPr id="198" name="Google Shape;198;p34"/>
          <p:cNvSpPr txBox="1"/>
          <p:nvPr>
            <p:ph idx="1" type="body"/>
          </p:nvPr>
        </p:nvSpPr>
        <p:spPr>
          <a:xfrm>
            <a:off x="546750" y="1099675"/>
            <a:ext cx="8050500" cy="3592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000">
              <a:solidFill>
                <a:schemeClr val="dk1"/>
              </a:solidFill>
              <a:latin typeface="Roboto Light"/>
              <a:ea typeface="Roboto Light"/>
              <a:cs typeface="Roboto Light"/>
              <a:sym typeface="Roboto Light"/>
            </a:endParaRPr>
          </a:p>
          <a:p>
            <a:pPr indent="0" lvl="0" marL="114300" rtl="0" algn="l">
              <a:spcBef>
                <a:spcPts val="0"/>
              </a:spcBef>
              <a:spcAft>
                <a:spcPts val="0"/>
              </a:spcAft>
              <a:buNone/>
            </a:pPr>
            <a:r>
              <a:rPr lang="en" sz="1100">
                <a:solidFill>
                  <a:schemeClr val="dk1"/>
                </a:solidFill>
                <a:latin typeface="Roboto Light"/>
                <a:ea typeface="Roboto Light"/>
                <a:cs typeface="Roboto Light"/>
                <a:sym typeface="Roboto Light"/>
              </a:rPr>
              <a:t>5.</a:t>
            </a:r>
            <a:r>
              <a:rPr b="1" lang="en" sz="1100">
                <a:solidFill>
                  <a:schemeClr val="dk1"/>
                </a:solidFill>
                <a:latin typeface="Roboto"/>
                <a:ea typeface="Roboto"/>
                <a:cs typeface="Roboto"/>
                <a:sym typeface="Roboto"/>
              </a:rPr>
              <a:t>	</a:t>
            </a:r>
            <a:r>
              <a:rPr b="1" lang="en" sz="1200">
                <a:solidFill>
                  <a:schemeClr val="dk1"/>
                </a:solidFill>
                <a:latin typeface="Roboto"/>
                <a:ea typeface="Roboto"/>
                <a:cs typeface="Roboto"/>
                <a:sym typeface="Roboto"/>
              </a:rPr>
              <a:t>Did this person’s behaviors consistently exemplify our company values in the previous 6 months?</a:t>
            </a:r>
            <a:endParaRPr b="1" sz="1200">
              <a:solidFill>
                <a:schemeClr val="dk1"/>
              </a:solidFill>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b="1" lang="en" sz="1000">
                <a:solidFill>
                  <a:schemeClr val="dk1"/>
                </a:solidFill>
                <a:latin typeface="Roboto"/>
                <a:ea typeface="Roboto"/>
                <a:cs typeface="Roboto"/>
                <a:sym typeface="Roboto"/>
              </a:rPr>
              <a:t>Description</a:t>
            </a:r>
            <a:r>
              <a:rPr b="1" lang="en">
                <a:solidFill>
                  <a:schemeClr val="dk1"/>
                </a:solidFill>
                <a:latin typeface="Roboto"/>
                <a:ea typeface="Roboto"/>
                <a:cs typeface="Roboto"/>
                <a:sym typeface="Roboto"/>
              </a:rPr>
              <a:t>: </a:t>
            </a:r>
            <a:r>
              <a:rPr i="1" lang="en" sz="1000">
                <a:solidFill>
                  <a:schemeClr val="dk1"/>
                </a:solidFill>
                <a:latin typeface="Roboto Light"/>
                <a:ea typeface="Roboto Light"/>
                <a:cs typeface="Roboto Light"/>
                <a:sym typeface="Roboto Light"/>
              </a:rPr>
              <a:t>Values listed</a:t>
            </a:r>
            <a:endParaRPr b="1" sz="1100">
              <a:solidFill>
                <a:schemeClr val="dk1"/>
              </a:solidFill>
              <a:latin typeface="Roboto"/>
              <a:ea typeface="Roboto"/>
              <a:cs typeface="Roboto"/>
              <a:sym typeface="Roboto"/>
            </a:endParaRPr>
          </a:p>
          <a:p>
            <a:pPr indent="-304800" lvl="2" marL="1371600" rtl="0" algn="l">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Rating and Comment</a:t>
            </a:r>
            <a:endParaRPr sz="1000">
              <a:solidFill>
                <a:schemeClr val="dk1"/>
              </a:solidFill>
              <a:latin typeface="Roboto Light"/>
              <a:ea typeface="Roboto Light"/>
              <a:cs typeface="Roboto Light"/>
              <a:sym typeface="Roboto Light"/>
            </a:endParaRPr>
          </a:p>
          <a:p>
            <a:pPr indent="-304800" lvl="2" marL="1371600" rtl="0" algn="l">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Developing: Below Expectations, Performing: Meets Expectations, Exceeding: Exceeds Expectations</a:t>
            </a:r>
            <a:endParaRPr b="1" sz="1100">
              <a:solidFill>
                <a:schemeClr val="dk1"/>
              </a:solidFill>
              <a:latin typeface="Roboto"/>
              <a:ea typeface="Roboto"/>
              <a:cs typeface="Roboto"/>
              <a:sym typeface="Roboto"/>
            </a:endParaRPr>
          </a:p>
          <a:p>
            <a:pPr indent="0" lvl="0" marL="114300" rtl="0" algn="l">
              <a:lnSpc>
                <a:spcPct val="115000"/>
              </a:lnSpc>
              <a:spcBef>
                <a:spcPts val="0"/>
              </a:spcBef>
              <a:spcAft>
                <a:spcPts val="0"/>
              </a:spcAft>
              <a:buNone/>
            </a:pPr>
            <a:r>
              <a:rPr lang="en" sz="1100">
                <a:solidFill>
                  <a:schemeClr val="dk1"/>
                </a:solidFill>
                <a:latin typeface="Roboto Light"/>
                <a:ea typeface="Roboto Light"/>
                <a:cs typeface="Roboto Light"/>
                <a:sym typeface="Roboto Light"/>
              </a:rPr>
              <a:t>6.</a:t>
            </a:r>
            <a:r>
              <a:rPr b="1" lang="en" sz="1100">
                <a:solidFill>
                  <a:schemeClr val="dk1"/>
                </a:solidFill>
                <a:latin typeface="Roboto"/>
                <a:ea typeface="Roboto"/>
                <a:cs typeface="Roboto"/>
                <a:sym typeface="Roboto"/>
              </a:rPr>
              <a:t>	</a:t>
            </a:r>
            <a:r>
              <a:rPr b="1" lang="en" sz="1200">
                <a:solidFill>
                  <a:schemeClr val="dk1"/>
                </a:solidFill>
                <a:latin typeface="Roboto"/>
                <a:ea typeface="Roboto"/>
                <a:cs typeface="Roboto"/>
                <a:sym typeface="Roboto"/>
              </a:rPr>
              <a:t>What would you like to see this person focus on or improve over the next 6 months?</a:t>
            </a:r>
            <a:endParaRPr b="1" sz="1200">
              <a:solidFill>
                <a:schemeClr val="dk1"/>
              </a:solidFill>
              <a:latin typeface="Roboto"/>
              <a:ea typeface="Roboto"/>
              <a:cs typeface="Roboto"/>
              <a:sym typeface="Roboto"/>
            </a:endParaRPr>
          </a:p>
          <a:p>
            <a:pPr indent="-292100" lvl="0" marL="914400" rtl="0" algn="l">
              <a:lnSpc>
                <a:spcPct val="115000"/>
              </a:lnSpc>
              <a:spcBef>
                <a:spcPts val="0"/>
              </a:spcBef>
              <a:spcAft>
                <a:spcPts val="0"/>
              </a:spcAft>
              <a:buClr>
                <a:schemeClr val="dk1"/>
              </a:buClr>
              <a:buSzPts val="1000"/>
              <a:buFont typeface="Roboto Light"/>
              <a:buAutoNum type="alphaLcPeriod"/>
            </a:pPr>
            <a:r>
              <a:rPr lang="en" sz="1000">
                <a:solidFill>
                  <a:schemeClr val="dk1"/>
                </a:solidFill>
                <a:latin typeface="Roboto Light"/>
                <a:ea typeface="Roboto Light"/>
                <a:cs typeface="Roboto Light"/>
                <a:sym typeface="Roboto Light"/>
              </a:rPr>
              <a:t>Comment</a:t>
            </a:r>
            <a:endParaRPr sz="1000">
              <a:solidFill>
                <a:schemeClr val="dk1"/>
              </a:solidFill>
              <a:latin typeface="Roboto Light"/>
              <a:ea typeface="Roboto Light"/>
              <a:cs typeface="Roboto Light"/>
              <a:sym typeface="Roboto Light"/>
            </a:endParaRPr>
          </a:p>
          <a:p>
            <a:pPr indent="-342900" lvl="0" marL="457200" rtl="0" algn="l">
              <a:lnSpc>
                <a:spcPct val="115000"/>
              </a:lnSpc>
              <a:spcBef>
                <a:spcPts val="0"/>
              </a:spcBef>
              <a:spcAft>
                <a:spcPts val="0"/>
              </a:spcAft>
              <a:buNone/>
            </a:pPr>
            <a:r>
              <a:rPr lang="en" sz="1100">
                <a:solidFill>
                  <a:schemeClr val="dk1"/>
                </a:solidFill>
                <a:latin typeface="Roboto Light"/>
                <a:ea typeface="Roboto Light"/>
                <a:cs typeface="Roboto Light"/>
                <a:sym typeface="Roboto Light"/>
              </a:rPr>
              <a:t>7.</a:t>
            </a:r>
            <a:r>
              <a:rPr b="1" lang="en" sz="1100">
                <a:solidFill>
                  <a:schemeClr val="dk1"/>
                </a:solidFill>
                <a:latin typeface="Roboto"/>
                <a:ea typeface="Roboto"/>
                <a:cs typeface="Roboto"/>
                <a:sym typeface="Roboto"/>
              </a:rPr>
              <a:t> 	</a:t>
            </a:r>
            <a:r>
              <a:rPr b="1" lang="en" sz="1200">
                <a:solidFill>
                  <a:schemeClr val="dk1"/>
                </a:solidFill>
                <a:latin typeface="Roboto"/>
                <a:ea typeface="Roboto"/>
                <a:cs typeface="Roboto"/>
                <a:sym typeface="Roboto"/>
              </a:rPr>
              <a:t>(Hidden From Reviewee) </a:t>
            </a:r>
            <a:r>
              <a:rPr b="1" lang="en" sz="1200">
                <a:solidFill>
                  <a:schemeClr val="dk1"/>
                </a:solidFill>
                <a:latin typeface="Roboto"/>
                <a:ea typeface="Roboto"/>
                <a:cs typeface="Roboto"/>
                <a:sym typeface="Roboto"/>
              </a:rPr>
              <a:t>Promotion Eligibility: Unless something changes, is this person currently on track to be considered for a promotion in the next 6 months?</a:t>
            </a:r>
            <a:endParaRPr b="1" sz="1200">
              <a:solidFill>
                <a:schemeClr val="dk1"/>
              </a:solidFill>
              <a:highlight>
                <a:srgbClr val="FFF2CC"/>
              </a:highlight>
              <a:latin typeface="Roboto"/>
              <a:ea typeface="Roboto"/>
              <a:cs typeface="Roboto"/>
              <a:sym typeface="Roboto"/>
            </a:endParaRPr>
          </a:p>
          <a:p>
            <a:pPr indent="-292100" lvl="0" marL="914400" rtl="0" algn="l">
              <a:lnSpc>
                <a:spcPct val="115000"/>
              </a:lnSpc>
              <a:spcBef>
                <a:spcPts val="0"/>
              </a:spcBef>
              <a:spcAft>
                <a:spcPts val="0"/>
              </a:spcAft>
              <a:buSzPts val="1000"/>
              <a:buFont typeface="Roboto"/>
              <a:buAutoNum type="alphaLcPeriod"/>
            </a:pPr>
            <a:r>
              <a:rPr b="1" lang="en" sz="1000">
                <a:solidFill>
                  <a:schemeClr val="dk1"/>
                </a:solidFill>
                <a:latin typeface="Roboto"/>
                <a:ea typeface="Roboto"/>
                <a:cs typeface="Roboto"/>
                <a:sym typeface="Roboto"/>
              </a:rPr>
              <a:t>Description</a:t>
            </a:r>
            <a:r>
              <a:rPr b="1" lang="en" sz="1200">
                <a:solidFill>
                  <a:schemeClr val="dk1"/>
                </a:solidFill>
                <a:latin typeface="Roboto"/>
                <a:ea typeface="Roboto"/>
                <a:cs typeface="Roboto"/>
                <a:sym typeface="Roboto"/>
              </a:rPr>
              <a:t>: </a:t>
            </a:r>
            <a:r>
              <a:rPr i="1" lang="en" sz="1000">
                <a:solidFill>
                  <a:schemeClr val="dk1"/>
                </a:solidFill>
                <a:latin typeface="Roboto Light"/>
                <a:ea typeface="Roboto Light"/>
                <a:cs typeface="Roboto Light"/>
                <a:sym typeface="Roboto Light"/>
              </a:rPr>
              <a:t>Your answer to this question will not be shown to the reviewee. The Finance &amp; People Operations teams will use this information to help plan for any potential promotions that may occur in the next 6 months. Please explain the reason for your answer using the comment field below.</a:t>
            </a:r>
            <a:endParaRPr b="1" sz="1200">
              <a:solidFill>
                <a:schemeClr val="dk1"/>
              </a:solidFill>
              <a:highlight>
                <a:srgbClr val="FFF2CC"/>
              </a:highlight>
              <a:latin typeface="Roboto"/>
              <a:ea typeface="Roboto"/>
              <a:cs typeface="Roboto"/>
              <a:sym typeface="Roboto"/>
            </a:endParaRPr>
          </a:p>
          <a:p>
            <a:pPr indent="-304800" lvl="2" marL="1371600" rtl="0" algn="l">
              <a:lnSpc>
                <a:spcPct val="115000"/>
              </a:lnSpc>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Multiple Choice and Comment</a:t>
            </a:r>
            <a:endParaRPr sz="1000">
              <a:solidFill>
                <a:schemeClr val="dk1"/>
              </a:solidFill>
              <a:latin typeface="Roboto Light"/>
              <a:ea typeface="Roboto Light"/>
              <a:cs typeface="Roboto Light"/>
              <a:sym typeface="Roboto Light"/>
            </a:endParaRPr>
          </a:p>
          <a:p>
            <a:pPr indent="-304800" lvl="2" marL="1371600" rtl="0" algn="l">
              <a:lnSpc>
                <a:spcPct val="115000"/>
              </a:lnSpc>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Yes. I believe this person is on track to be considered for a promotion within the next 6 months.</a:t>
            </a:r>
            <a:endParaRPr sz="1000">
              <a:solidFill>
                <a:schemeClr val="dk1"/>
              </a:solidFill>
              <a:latin typeface="Roboto Light"/>
              <a:ea typeface="Roboto Light"/>
              <a:cs typeface="Roboto Light"/>
              <a:sym typeface="Roboto Light"/>
            </a:endParaRPr>
          </a:p>
          <a:p>
            <a:pPr indent="-304800" lvl="2" marL="1371600" rtl="0" algn="l">
              <a:lnSpc>
                <a:spcPct val="115000"/>
              </a:lnSpc>
              <a:spcBef>
                <a:spcPts val="0"/>
              </a:spcBef>
              <a:spcAft>
                <a:spcPts val="0"/>
              </a:spcAft>
              <a:buClr>
                <a:schemeClr val="dk1"/>
              </a:buClr>
              <a:buSzPts val="1200"/>
              <a:buFont typeface="Roboto Light"/>
              <a:buAutoNum type="romanLcPeriod"/>
            </a:pPr>
            <a:r>
              <a:rPr lang="en" sz="1000">
                <a:solidFill>
                  <a:schemeClr val="dk1"/>
                </a:solidFill>
                <a:latin typeface="Roboto Light"/>
                <a:ea typeface="Roboto Light"/>
                <a:cs typeface="Roboto Light"/>
                <a:sym typeface="Roboto Light"/>
              </a:rPr>
              <a:t>No. I do not believe this person is on track to be considered for a promotion in the next 6 months.</a:t>
            </a:r>
            <a:endParaRPr sz="1000">
              <a:solidFill>
                <a:schemeClr val="dk1"/>
              </a:solidFill>
              <a:latin typeface="Roboto Light"/>
              <a:ea typeface="Roboto Light"/>
              <a:cs typeface="Roboto Light"/>
              <a:sym typeface="Roboto Light"/>
            </a:endParaRPr>
          </a:p>
        </p:txBody>
      </p:sp>
      <p:sp>
        <p:nvSpPr>
          <p:cNvPr id="199" name="Google Shape;199;p34"/>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 name="Google Shape;200;p34"/>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01" name="Google Shape;201;p34"/>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4"/>
          <p:cNvSpPr txBox="1"/>
          <p:nvPr/>
        </p:nvSpPr>
        <p:spPr>
          <a:xfrm>
            <a:off x="0" y="4691875"/>
            <a:ext cx="679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latin typeface="Roboto Light"/>
                <a:ea typeface="Roboto Light"/>
                <a:cs typeface="Roboto Light"/>
                <a:sym typeface="Roboto Light"/>
              </a:rPr>
              <a:t>*Downward means Manager reviewing a Direct Report</a:t>
            </a:r>
            <a:endParaRPr i="1" sz="1000">
              <a:solidFill>
                <a:schemeClr val="dk1"/>
              </a:solidFill>
              <a:latin typeface="Roboto Light"/>
              <a:ea typeface="Roboto Light"/>
              <a:cs typeface="Roboto Light"/>
              <a:sym typeface="Robo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 name="Shape 206"/>
        <p:cNvGrpSpPr/>
        <p:nvPr/>
      </p:nvGrpSpPr>
      <p:grpSpPr>
        <a:xfrm>
          <a:off x="0" y="0"/>
          <a:ext cx="0" cy="0"/>
          <a:chOff x="0" y="0"/>
          <a:chExt cx="0" cy="0"/>
        </a:xfrm>
      </p:grpSpPr>
      <p:pic>
        <p:nvPicPr>
          <p:cNvPr id="207" name="Google Shape;207;p35"/>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08" name="Google Shape;208;p35"/>
          <p:cNvSpPr txBox="1"/>
          <p:nvPr>
            <p:ph type="title"/>
          </p:nvPr>
        </p:nvSpPr>
        <p:spPr>
          <a:xfrm>
            <a:off x="311700" y="384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Preview of 2022 Downward Review in Lattice</a:t>
            </a:r>
            <a:endParaRPr b="1" sz="2200">
              <a:latin typeface="Merriweather"/>
              <a:ea typeface="Merriweather"/>
              <a:cs typeface="Merriweather"/>
              <a:sym typeface="Merriweather"/>
            </a:endParaRPr>
          </a:p>
        </p:txBody>
      </p:sp>
      <p:sp>
        <p:nvSpPr>
          <p:cNvPr id="209" name="Google Shape;209;p35"/>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 name="Google Shape;210;p35"/>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11" name="Google Shape;211;p35"/>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 name="Google Shape;212;p35"/>
          <p:cNvPicPr preferRelativeResize="0"/>
          <p:nvPr/>
        </p:nvPicPr>
        <p:blipFill>
          <a:blip r:embed="rId6">
            <a:alphaModFix/>
          </a:blip>
          <a:stretch>
            <a:fillRect/>
          </a:stretch>
        </p:blipFill>
        <p:spPr>
          <a:xfrm>
            <a:off x="311700" y="1160300"/>
            <a:ext cx="2927790" cy="3736761"/>
          </a:xfrm>
          <a:prstGeom prst="rect">
            <a:avLst/>
          </a:prstGeom>
          <a:noFill/>
          <a:ln>
            <a:noFill/>
          </a:ln>
        </p:spPr>
      </p:pic>
      <p:pic>
        <p:nvPicPr>
          <p:cNvPr id="213" name="Google Shape;213;p35"/>
          <p:cNvPicPr preferRelativeResize="0"/>
          <p:nvPr/>
        </p:nvPicPr>
        <p:blipFill>
          <a:blip r:embed="rId7">
            <a:alphaModFix/>
          </a:blip>
          <a:stretch>
            <a:fillRect/>
          </a:stretch>
        </p:blipFill>
        <p:spPr>
          <a:xfrm>
            <a:off x="3432150" y="1181875"/>
            <a:ext cx="3506666" cy="3693601"/>
          </a:xfrm>
          <a:prstGeom prst="rect">
            <a:avLst/>
          </a:prstGeom>
          <a:noFill/>
          <a:ln>
            <a:noFill/>
          </a:ln>
        </p:spPr>
      </p:pic>
      <p:pic>
        <p:nvPicPr>
          <p:cNvPr id="214" name="Google Shape;214;p35"/>
          <p:cNvPicPr preferRelativeResize="0"/>
          <p:nvPr/>
        </p:nvPicPr>
        <p:blipFill>
          <a:blip r:embed="rId8">
            <a:alphaModFix/>
          </a:blip>
          <a:stretch>
            <a:fillRect/>
          </a:stretch>
        </p:blipFill>
        <p:spPr>
          <a:xfrm>
            <a:off x="7032525" y="1490012"/>
            <a:ext cx="2013476" cy="2163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pic>
        <p:nvPicPr>
          <p:cNvPr id="219" name="Google Shape;219;p36"/>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20" name="Google Shape;220;p36"/>
          <p:cNvSpPr txBox="1"/>
          <p:nvPr>
            <p:ph type="title"/>
          </p:nvPr>
        </p:nvSpPr>
        <p:spPr>
          <a:xfrm>
            <a:off x="311700" y="450925"/>
            <a:ext cx="8520600" cy="80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Merriweather"/>
                <a:ea typeface="Merriweather"/>
                <a:cs typeface="Merriweather"/>
                <a:sym typeface="Merriweather"/>
              </a:rPr>
              <a:t>Bi-Annual </a:t>
            </a:r>
            <a:r>
              <a:rPr b="1" lang="en" sz="2100">
                <a:latin typeface="Merriweather"/>
                <a:ea typeface="Merriweather"/>
                <a:cs typeface="Merriweather"/>
                <a:sym typeface="Merriweather"/>
              </a:rPr>
              <a:t>Performance </a:t>
            </a:r>
            <a:r>
              <a:rPr b="1" lang="en" sz="2100">
                <a:latin typeface="Merriweather"/>
                <a:ea typeface="Merriweather"/>
                <a:cs typeface="Merriweather"/>
                <a:sym typeface="Merriweather"/>
              </a:rPr>
              <a:t>Review, Direct Report</a:t>
            </a:r>
            <a:r>
              <a:rPr b="1" lang="en" sz="1400">
                <a:latin typeface="Merriweather"/>
                <a:ea typeface="Merriweather"/>
                <a:cs typeface="Merriweather"/>
                <a:sym typeface="Merriweather"/>
              </a:rPr>
              <a:t> (*Upward) </a:t>
            </a:r>
            <a:r>
              <a:rPr b="1" lang="en" sz="2100">
                <a:latin typeface="Merriweather"/>
                <a:ea typeface="Merriweather"/>
                <a:cs typeface="Merriweather"/>
                <a:sym typeface="Merriweather"/>
              </a:rPr>
              <a:t>Review</a:t>
            </a:r>
            <a:endParaRPr b="1" sz="2100">
              <a:latin typeface="Merriweather"/>
              <a:ea typeface="Merriweather"/>
              <a:cs typeface="Merriweather"/>
              <a:sym typeface="Merriweather"/>
            </a:endParaRPr>
          </a:p>
        </p:txBody>
      </p:sp>
      <p:sp>
        <p:nvSpPr>
          <p:cNvPr id="221" name="Google Shape;221;p36"/>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36"/>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23" name="Google Shape;223;p36"/>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6"/>
          <p:cNvSpPr txBox="1"/>
          <p:nvPr>
            <p:ph idx="2" type="body"/>
          </p:nvPr>
        </p:nvSpPr>
        <p:spPr>
          <a:xfrm>
            <a:off x="366000" y="1258825"/>
            <a:ext cx="8566800" cy="316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dk1"/>
                </a:solidFill>
                <a:highlight>
                  <a:schemeClr val="lt1"/>
                </a:highlight>
                <a:latin typeface="Roboto Light"/>
                <a:ea typeface="Roboto Light"/>
                <a:cs typeface="Roboto Light"/>
                <a:sym typeface="Roboto Light"/>
              </a:rPr>
              <a:t>Questions 1-4 are rating questions on a likert scale with optional comments</a:t>
            </a:r>
            <a:endParaRPr i="1" sz="11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highlight>
                  <a:schemeClr val="lt1"/>
                </a:highlight>
                <a:latin typeface="Roboto"/>
                <a:ea typeface="Roboto"/>
                <a:cs typeface="Roboto"/>
                <a:sym typeface="Roboto"/>
              </a:rPr>
              <a:t>My manager supports my professional and personal growth</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Rating and comment optional</a:t>
            </a:r>
            <a:endParaRPr sz="10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highlight>
                  <a:schemeClr val="lt1"/>
                </a:highlight>
                <a:latin typeface="Roboto"/>
                <a:ea typeface="Roboto"/>
                <a:cs typeface="Roboto"/>
                <a:sym typeface="Roboto"/>
              </a:rPr>
              <a:t>My manager is open to feedback</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Rating and comment optional</a:t>
            </a:r>
            <a:endParaRPr sz="10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highlight>
                  <a:schemeClr val="lt1"/>
                </a:highlight>
                <a:latin typeface="Roboto"/>
                <a:ea typeface="Roboto"/>
                <a:cs typeface="Roboto"/>
                <a:sym typeface="Roboto"/>
              </a:rPr>
              <a:t>My manager provides me with clear feedback on my performance (including areas of opportunity &amp; strengths)</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Rating and comment optional</a:t>
            </a:r>
            <a:endParaRPr sz="10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highlight>
                  <a:schemeClr val="lt1"/>
                </a:highlight>
                <a:latin typeface="Roboto"/>
                <a:ea typeface="Roboto"/>
                <a:cs typeface="Roboto"/>
                <a:sym typeface="Roboto"/>
              </a:rPr>
              <a:t>My manager communicates in a clear, concise, and, empathetic way</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Rating and comment optional</a:t>
            </a:r>
            <a:endParaRPr sz="10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highlight>
                  <a:schemeClr val="lt1"/>
                </a:highlight>
                <a:latin typeface="Roboto"/>
                <a:ea typeface="Roboto"/>
                <a:cs typeface="Roboto"/>
                <a:sym typeface="Roboto"/>
              </a:rPr>
              <a:t>What should your manager STOP doing?</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Comment Only</a:t>
            </a:r>
            <a:endParaRPr sz="10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b="1" lang="en" sz="1200">
                <a:solidFill>
                  <a:schemeClr val="dk1"/>
                </a:solidFill>
                <a:highlight>
                  <a:schemeClr val="lt1"/>
                </a:highlight>
                <a:latin typeface="Roboto"/>
                <a:ea typeface="Roboto"/>
                <a:cs typeface="Roboto"/>
                <a:sym typeface="Roboto"/>
              </a:rPr>
              <a:t>What should your manager START doing?</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Comment Only</a:t>
            </a:r>
            <a:endParaRPr sz="10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b="1" lang="en" sz="1200">
                <a:solidFill>
                  <a:schemeClr val="dk1"/>
                </a:solidFill>
                <a:highlight>
                  <a:schemeClr val="lt1"/>
                </a:highlight>
                <a:latin typeface="Roboto"/>
                <a:ea typeface="Roboto"/>
                <a:cs typeface="Roboto"/>
                <a:sym typeface="Roboto"/>
              </a:rPr>
              <a:t>What should your manager KEEP doing?</a:t>
            </a:r>
            <a:endParaRPr b="1" sz="1200">
              <a:solidFill>
                <a:schemeClr val="dk1"/>
              </a:solidFill>
              <a:highlight>
                <a:schemeClr val="lt1"/>
              </a:highlight>
              <a:latin typeface="Roboto"/>
              <a:ea typeface="Roboto"/>
              <a:cs typeface="Roboto"/>
              <a:sym typeface="Roboto"/>
            </a:endParaRPr>
          </a:p>
          <a:p>
            <a:pPr indent="-292100" lvl="1" marL="914400" rtl="0" algn="l">
              <a:spcBef>
                <a:spcPts val="0"/>
              </a:spcBef>
              <a:spcAft>
                <a:spcPts val="0"/>
              </a:spcAft>
              <a:buClr>
                <a:schemeClr val="dk1"/>
              </a:buClr>
              <a:buSzPts val="1000"/>
              <a:buFont typeface="Roboto Light"/>
              <a:buAutoNum type="alphaLcPeriod"/>
            </a:pPr>
            <a:r>
              <a:rPr lang="en" sz="1000">
                <a:solidFill>
                  <a:schemeClr val="dk1"/>
                </a:solidFill>
                <a:highlight>
                  <a:schemeClr val="lt1"/>
                </a:highlight>
                <a:latin typeface="Roboto Light"/>
                <a:ea typeface="Roboto Light"/>
                <a:cs typeface="Roboto Light"/>
                <a:sym typeface="Roboto Light"/>
              </a:rPr>
              <a:t>Comment Only</a:t>
            </a:r>
            <a:endParaRPr i="1" sz="1000">
              <a:solidFill>
                <a:schemeClr val="dk1"/>
              </a:solidFill>
              <a:highlight>
                <a:schemeClr val="lt1"/>
              </a:highlight>
              <a:latin typeface="Roboto Light"/>
              <a:ea typeface="Roboto Light"/>
              <a:cs typeface="Roboto Light"/>
              <a:sym typeface="Roboto Light"/>
            </a:endParaRPr>
          </a:p>
        </p:txBody>
      </p:sp>
      <p:sp>
        <p:nvSpPr>
          <p:cNvPr id="225" name="Google Shape;225;p36"/>
          <p:cNvSpPr txBox="1"/>
          <p:nvPr/>
        </p:nvSpPr>
        <p:spPr>
          <a:xfrm>
            <a:off x="0" y="4580450"/>
            <a:ext cx="679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latin typeface="Roboto Light"/>
                <a:ea typeface="Roboto Light"/>
                <a:cs typeface="Roboto Light"/>
                <a:sym typeface="Roboto Light"/>
              </a:rPr>
              <a:t>*Upward means Direct Report reviewing Manager during the Managers Review Cycle</a:t>
            </a:r>
            <a:endParaRPr i="1" sz="1000">
              <a:latin typeface="Roboto Light"/>
              <a:ea typeface="Roboto Light"/>
              <a:cs typeface="Roboto Light"/>
              <a:sym typeface="Robot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pic>
        <p:nvPicPr>
          <p:cNvPr id="230" name="Google Shape;230;p37"/>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31" name="Google Shape;231;p37"/>
          <p:cNvSpPr txBox="1"/>
          <p:nvPr>
            <p:ph type="title"/>
          </p:nvPr>
        </p:nvSpPr>
        <p:spPr>
          <a:xfrm>
            <a:off x="266775" y="340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Preview of 2022 Upward Review in Lattice</a:t>
            </a:r>
            <a:endParaRPr b="1" sz="2200">
              <a:latin typeface="Merriweather"/>
              <a:ea typeface="Merriweather"/>
              <a:cs typeface="Merriweather"/>
              <a:sym typeface="Merriweather"/>
            </a:endParaRPr>
          </a:p>
        </p:txBody>
      </p:sp>
      <p:sp>
        <p:nvSpPr>
          <p:cNvPr id="232" name="Google Shape;232;p37"/>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3" name="Google Shape;233;p37"/>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34" name="Google Shape;234;p37"/>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37"/>
          <p:cNvPicPr preferRelativeResize="0"/>
          <p:nvPr/>
        </p:nvPicPr>
        <p:blipFill>
          <a:blip r:embed="rId6">
            <a:alphaModFix/>
          </a:blip>
          <a:stretch>
            <a:fillRect/>
          </a:stretch>
        </p:blipFill>
        <p:spPr>
          <a:xfrm>
            <a:off x="211925" y="1166147"/>
            <a:ext cx="2909849" cy="3725066"/>
          </a:xfrm>
          <a:prstGeom prst="rect">
            <a:avLst/>
          </a:prstGeom>
          <a:noFill/>
          <a:ln>
            <a:noFill/>
          </a:ln>
        </p:spPr>
      </p:pic>
      <p:pic>
        <p:nvPicPr>
          <p:cNvPr id="236" name="Google Shape;236;p37"/>
          <p:cNvPicPr preferRelativeResize="0"/>
          <p:nvPr/>
        </p:nvPicPr>
        <p:blipFill>
          <a:blip r:embed="rId7">
            <a:alphaModFix/>
          </a:blip>
          <a:stretch>
            <a:fillRect/>
          </a:stretch>
        </p:blipFill>
        <p:spPr>
          <a:xfrm>
            <a:off x="3484301" y="1202150"/>
            <a:ext cx="2787873" cy="3653075"/>
          </a:xfrm>
          <a:prstGeom prst="rect">
            <a:avLst/>
          </a:prstGeom>
          <a:noFill/>
          <a:ln>
            <a:noFill/>
          </a:ln>
        </p:spPr>
      </p:pic>
      <p:pic>
        <p:nvPicPr>
          <p:cNvPr id="237" name="Google Shape;237;p37"/>
          <p:cNvPicPr preferRelativeResize="0"/>
          <p:nvPr/>
        </p:nvPicPr>
        <p:blipFill>
          <a:blip r:embed="rId8">
            <a:alphaModFix/>
          </a:blip>
          <a:stretch>
            <a:fillRect/>
          </a:stretch>
        </p:blipFill>
        <p:spPr>
          <a:xfrm>
            <a:off x="6438724" y="1319525"/>
            <a:ext cx="2567025" cy="3002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41" name="Shape 241"/>
        <p:cNvGrpSpPr/>
        <p:nvPr/>
      </p:nvGrpSpPr>
      <p:grpSpPr>
        <a:xfrm>
          <a:off x="0" y="0"/>
          <a:ext cx="0" cy="0"/>
          <a:chOff x="0" y="0"/>
          <a:chExt cx="0" cy="0"/>
        </a:xfrm>
      </p:grpSpPr>
      <p:pic>
        <p:nvPicPr>
          <p:cNvPr id="242" name="Google Shape;242;p38"/>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43" name="Google Shape;243;p38"/>
          <p:cNvSpPr txBox="1"/>
          <p:nvPr>
            <p:ph type="title"/>
          </p:nvPr>
        </p:nvSpPr>
        <p:spPr>
          <a:xfrm>
            <a:off x="311700" y="261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Bi-Annual </a:t>
            </a:r>
            <a:r>
              <a:rPr b="1" lang="en" sz="2200">
                <a:latin typeface="Merriweather"/>
                <a:ea typeface="Merriweather"/>
                <a:cs typeface="Merriweather"/>
                <a:sym typeface="Merriweather"/>
              </a:rPr>
              <a:t>Performance </a:t>
            </a:r>
            <a:r>
              <a:rPr b="1" lang="en" sz="2200">
                <a:latin typeface="Merriweather"/>
                <a:ea typeface="Merriweather"/>
                <a:cs typeface="Merriweather"/>
                <a:sym typeface="Merriweather"/>
              </a:rPr>
              <a:t>Review, Direct Report (*Upward) Feedback</a:t>
            </a:r>
            <a:endParaRPr b="1" sz="2200">
              <a:latin typeface="Merriweather"/>
              <a:ea typeface="Merriweather"/>
              <a:cs typeface="Merriweather"/>
              <a:sym typeface="Merriweather"/>
            </a:endParaRPr>
          </a:p>
        </p:txBody>
      </p:sp>
      <p:sp>
        <p:nvSpPr>
          <p:cNvPr id="244" name="Google Shape;244;p38"/>
          <p:cNvSpPr txBox="1"/>
          <p:nvPr>
            <p:ph idx="1" type="body"/>
          </p:nvPr>
        </p:nvSpPr>
        <p:spPr>
          <a:xfrm>
            <a:off x="311700" y="1320475"/>
            <a:ext cx="7962600" cy="27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E1523D"/>
                </a:solidFill>
                <a:highlight>
                  <a:schemeClr val="lt1"/>
                </a:highlight>
                <a:latin typeface="Roboto"/>
                <a:ea typeface="Roboto"/>
                <a:cs typeface="Roboto"/>
                <a:sym typeface="Roboto"/>
              </a:rPr>
              <a:t>CURRENT Questions</a:t>
            </a:r>
            <a:endParaRPr b="1" sz="1100">
              <a:solidFill>
                <a:srgbClr val="E1523D"/>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What’s one thing the department/company should stop doing?</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Light"/>
              <a:buAutoNum type="arabicPeriod"/>
            </a:pPr>
            <a:r>
              <a:rPr lang="en" sz="1100">
                <a:solidFill>
                  <a:schemeClr val="dk1"/>
                </a:solidFill>
                <a:highlight>
                  <a:schemeClr val="lt1"/>
                </a:highlight>
                <a:latin typeface="Roboto Light"/>
                <a:ea typeface="Roboto Light"/>
                <a:cs typeface="Roboto Light"/>
                <a:sym typeface="Roboto Light"/>
              </a:rPr>
              <a:t>What’s one thing the department/company should start doing?</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Light"/>
              <a:buAutoNum type="arabicPeriod"/>
            </a:pPr>
            <a:r>
              <a:rPr lang="en" sz="1100">
                <a:solidFill>
                  <a:schemeClr val="dk1"/>
                </a:solidFill>
                <a:highlight>
                  <a:schemeClr val="lt1"/>
                </a:highlight>
                <a:latin typeface="Roboto Light"/>
                <a:ea typeface="Roboto Light"/>
                <a:cs typeface="Roboto Light"/>
                <a:sym typeface="Roboto Light"/>
              </a:rPr>
              <a:t>What’s one thing this department/company should continue doing?</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Light"/>
              <a:buAutoNum type="arabicPeriod"/>
            </a:pPr>
            <a:r>
              <a:rPr lang="en" sz="1100">
                <a:solidFill>
                  <a:schemeClr val="dk1"/>
                </a:solidFill>
                <a:highlight>
                  <a:schemeClr val="lt1"/>
                </a:highlight>
                <a:latin typeface="Roboto Light"/>
                <a:ea typeface="Roboto Light"/>
                <a:cs typeface="Roboto Light"/>
                <a:sym typeface="Roboto Light"/>
              </a:rPr>
              <a:t>If you were director, what’s the biggest thing you would focus the department/company on?</a:t>
            </a:r>
            <a:endParaRPr sz="1100">
              <a:solidFill>
                <a:schemeClr val="dk1"/>
              </a:solidFill>
              <a:highlight>
                <a:schemeClr val="lt1"/>
              </a:highlight>
              <a:latin typeface="Roboto Light"/>
              <a:ea typeface="Roboto Light"/>
              <a:cs typeface="Roboto Light"/>
              <a:sym typeface="Roboto Light"/>
            </a:endParaRPr>
          </a:p>
        </p:txBody>
      </p:sp>
      <p:sp>
        <p:nvSpPr>
          <p:cNvPr id="245" name="Google Shape;245;p38"/>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6" name="Google Shape;246;p38"/>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47" name="Google Shape;247;p38"/>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txBox="1"/>
          <p:nvPr/>
        </p:nvSpPr>
        <p:spPr>
          <a:xfrm>
            <a:off x="311700" y="4421950"/>
            <a:ext cx="679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Light"/>
                <a:ea typeface="Roboto Light"/>
                <a:cs typeface="Roboto Light"/>
                <a:sym typeface="Roboto Light"/>
              </a:rPr>
              <a:t>*Upward means Direct Reporting reviewing Manager at the Manager’s review</a:t>
            </a:r>
            <a:endParaRPr i="1" sz="1200">
              <a:latin typeface="Roboto Light"/>
              <a:ea typeface="Roboto Light"/>
              <a:cs typeface="Roboto Light"/>
              <a:sym typeface="Robot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52" name="Shape 252"/>
        <p:cNvGrpSpPr/>
        <p:nvPr/>
      </p:nvGrpSpPr>
      <p:grpSpPr>
        <a:xfrm>
          <a:off x="0" y="0"/>
          <a:ext cx="0" cy="0"/>
          <a:chOff x="0" y="0"/>
          <a:chExt cx="0" cy="0"/>
        </a:xfrm>
      </p:grpSpPr>
      <p:pic>
        <p:nvPicPr>
          <p:cNvPr id="253" name="Google Shape;253;p39"/>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54" name="Google Shape;254;p39"/>
          <p:cNvSpPr txBox="1"/>
          <p:nvPr>
            <p:ph type="title"/>
          </p:nvPr>
        </p:nvSpPr>
        <p:spPr>
          <a:xfrm>
            <a:off x="311700" y="260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E1523D"/>
                </a:solidFill>
                <a:latin typeface="Merriweather"/>
                <a:ea typeface="Merriweather"/>
                <a:cs typeface="Merriweather"/>
                <a:sym typeface="Merriweather"/>
              </a:rPr>
              <a:t>CURRENT</a:t>
            </a:r>
            <a:endParaRPr b="1" sz="2200">
              <a:solidFill>
                <a:srgbClr val="E1523D"/>
              </a:solidFill>
              <a:latin typeface="Merriweather"/>
              <a:ea typeface="Merriweather"/>
              <a:cs typeface="Merriweather"/>
              <a:sym typeface="Merriweather"/>
            </a:endParaRPr>
          </a:p>
          <a:p>
            <a:pPr indent="0" lvl="0" marL="0" rtl="0" algn="l">
              <a:spcBef>
                <a:spcPts val="0"/>
              </a:spcBef>
              <a:spcAft>
                <a:spcPts val="0"/>
              </a:spcAft>
              <a:buNone/>
            </a:pPr>
            <a:r>
              <a:rPr b="1" lang="en" sz="2200">
                <a:latin typeface="Merriweather"/>
                <a:ea typeface="Merriweather"/>
                <a:cs typeface="Merriweather"/>
                <a:sym typeface="Merriweather"/>
              </a:rPr>
              <a:t>Bi-Annual Performance Review, </a:t>
            </a:r>
            <a:r>
              <a:rPr b="1" lang="en" sz="2200">
                <a:solidFill>
                  <a:srgbClr val="333333"/>
                </a:solidFill>
                <a:latin typeface="Merriweather"/>
                <a:ea typeface="Merriweather"/>
                <a:cs typeface="Merriweather"/>
                <a:sym typeface="Merriweather"/>
              </a:rPr>
              <a:t>Self Review</a:t>
            </a:r>
            <a:endParaRPr b="1" sz="2200">
              <a:solidFill>
                <a:srgbClr val="333333"/>
              </a:solidFill>
              <a:latin typeface="Merriweather"/>
              <a:ea typeface="Merriweather"/>
              <a:cs typeface="Merriweather"/>
              <a:sym typeface="Merriweather"/>
            </a:endParaRPr>
          </a:p>
        </p:txBody>
      </p:sp>
      <p:sp>
        <p:nvSpPr>
          <p:cNvPr id="255" name="Google Shape;255;p39"/>
          <p:cNvSpPr txBox="1"/>
          <p:nvPr>
            <p:ph idx="1" type="body"/>
          </p:nvPr>
        </p:nvSpPr>
        <p:spPr>
          <a:xfrm>
            <a:off x="311700" y="1152475"/>
            <a:ext cx="86652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accomplishments are you most proud of in the last 6 months?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To what extent did you meet your KPIs over the last 6 months?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How well do you listen to and communicate with others?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skills, and/or behaviors would you like to improve in the next 6 months?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value reasons with you most and why? Please provide an example of when you used the value or saw it used.</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went well for you this half of the year?</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could have gone better in the last 6 months?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areas do you believe the company should focus on in the coming months?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does company wide success look like to you by the end of the year?</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Give an example of how you Embraced Reality this review period.</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How do you show the value People &gt; Clients?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Tell me about a time that Transparency was your Default?</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Ownership Breeds Excellence is one of our values…what can you take ownership of in the coming months?</a:t>
            </a:r>
            <a:endParaRPr sz="1200">
              <a:solidFill>
                <a:schemeClr val="dk1"/>
              </a:solidFill>
              <a:highlight>
                <a:schemeClr val="lt1"/>
              </a:highlight>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highlight>
                  <a:schemeClr val="lt1"/>
                </a:highlight>
                <a:latin typeface="Roboto Light"/>
                <a:ea typeface="Roboto Light"/>
                <a:cs typeface="Roboto Light"/>
                <a:sym typeface="Roboto Light"/>
              </a:rPr>
              <a:t>What does Proactively Communicate with Clarity and Empathy mean to you?</a:t>
            </a:r>
            <a:endParaRPr sz="1200">
              <a:solidFill>
                <a:schemeClr val="dk1"/>
              </a:solidFill>
              <a:highlight>
                <a:schemeClr val="lt1"/>
              </a:highlight>
              <a:latin typeface="Roboto Light"/>
              <a:ea typeface="Roboto Light"/>
              <a:cs typeface="Roboto Light"/>
              <a:sym typeface="Roboto Light"/>
            </a:endParaRPr>
          </a:p>
        </p:txBody>
      </p:sp>
      <p:sp>
        <p:nvSpPr>
          <p:cNvPr id="256" name="Google Shape;256;p39"/>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39"/>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58" name="Google Shape;258;p39"/>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62" name="Shape 262"/>
        <p:cNvGrpSpPr/>
        <p:nvPr/>
      </p:nvGrpSpPr>
      <p:grpSpPr>
        <a:xfrm>
          <a:off x="0" y="0"/>
          <a:ext cx="0" cy="0"/>
          <a:chOff x="0" y="0"/>
          <a:chExt cx="0" cy="0"/>
        </a:xfrm>
      </p:grpSpPr>
      <p:pic>
        <p:nvPicPr>
          <p:cNvPr id="263" name="Google Shape;263;p40"/>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64" name="Google Shape;264;p40"/>
          <p:cNvSpPr txBox="1"/>
          <p:nvPr>
            <p:ph type="title"/>
          </p:nvPr>
        </p:nvSpPr>
        <p:spPr>
          <a:xfrm>
            <a:off x="311700" y="3183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E1523D"/>
                </a:solidFill>
                <a:latin typeface="Merriweather"/>
                <a:ea typeface="Merriweather"/>
                <a:cs typeface="Merriweather"/>
                <a:sym typeface="Merriweather"/>
              </a:rPr>
              <a:t>V1 </a:t>
            </a:r>
            <a:r>
              <a:rPr b="1" lang="en" sz="2200">
                <a:solidFill>
                  <a:srgbClr val="E1523D"/>
                </a:solidFill>
                <a:latin typeface="Merriweather"/>
                <a:ea typeface="Merriweather"/>
                <a:cs typeface="Merriweather"/>
                <a:sym typeface="Merriweather"/>
              </a:rPr>
              <a:t>PROPOSED</a:t>
            </a:r>
            <a:r>
              <a:rPr b="1" lang="en" sz="2200">
                <a:latin typeface="Merriweather"/>
                <a:ea typeface="Merriweather"/>
                <a:cs typeface="Merriweather"/>
                <a:sym typeface="Merriweather"/>
              </a:rPr>
              <a:t> </a:t>
            </a:r>
            <a:r>
              <a:rPr b="1" lang="en" sz="2200">
                <a:latin typeface="Merriweather"/>
                <a:ea typeface="Merriweather"/>
                <a:cs typeface="Merriweather"/>
                <a:sym typeface="Merriweather"/>
              </a:rPr>
              <a:t>Bi-Annual </a:t>
            </a:r>
            <a:r>
              <a:rPr b="1" lang="en" sz="2200">
                <a:latin typeface="Merriweather"/>
                <a:ea typeface="Merriweather"/>
                <a:cs typeface="Merriweather"/>
                <a:sym typeface="Merriweather"/>
              </a:rPr>
              <a:t>Performance</a:t>
            </a:r>
            <a:r>
              <a:rPr b="1" lang="en" sz="2200">
                <a:latin typeface="Merriweather"/>
                <a:ea typeface="Merriweather"/>
                <a:cs typeface="Merriweather"/>
                <a:sym typeface="Merriweather"/>
              </a:rPr>
              <a:t> Review, </a:t>
            </a:r>
            <a:r>
              <a:rPr b="1" lang="en" sz="2200">
                <a:solidFill>
                  <a:srgbClr val="333333"/>
                </a:solidFill>
                <a:latin typeface="Merriweather"/>
                <a:ea typeface="Merriweather"/>
                <a:cs typeface="Merriweather"/>
                <a:sym typeface="Merriweather"/>
              </a:rPr>
              <a:t>Self Review</a:t>
            </a:r>
            <a:endParaRPr b="1" sz="2200">
              <a:solidFill>
                <a:srgbClr val="333333"/>
              </a:solidFill>
              <a:latin typeface="Merriweather"/>
              <a:ea typeface="Merriweather"/>
              <a:cs typeface="Merriweather"/>
              <a:sym typeface="Merriweather"/>
            </a:endParaRPr>
          </a:p>
        </p:txBody>
      </p:sp>
      <p:sp>
        <p:nvSpPr>
          <p:cNvPr id="265" name="Google Shape;265;p40"/>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40"/>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67" name="Google Shape;267;p40"/>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0"/>
          <p:cNvSpPr txBox="1"/>
          <p:nvPr>
            <p:ph idx="4294967295" type="body"/>
          </p:nvPr>
        </p:nvSpPr>
        <p:spPr>
          <a:xfrm>
            <a:off x="524150" y="1279200"/>
            <a:ext cx="8190000" cy="20793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AutoNum type="arabicPeriod"/>
            </a:pPr>
            <a:r>
              <a:rPr lang="en" sz="1200">
                <a:solidFill>
                  <a:schemeClr val="dk1"/>
                </a:solidFill>
                <a:latin typeface="Roboto Light"/>
                <a:ea typeface="Roboto Light"/>
                <a:cs typeface="Roboto Light"/>
                <a:sym typeface="Roboto Light"/>
              </a:rPr>
              <a:t>What accomplishments are you most proud of from the previous 6 months?</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latin typeface="Roboto Light"/>
                <a:ea typeface="Roboto Light"/>
                <a:cs typeface="Roboto Light"/>
                <a:sym typeface="Roboto Light"/>
              </a:rPr>
              <a:t>What could have gone better in the previous 6 months?</a:t>
            </a:r>
            <a:endParaRPr i="1"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latin typeface="Roboto Light"/>
                <a:ea typeface="Roboto Light"/>
                <a:cs typeface="Roboto Light"/>
                <a:sym typeface="Roboto Light"/>
              </a:rPr>
              <a:t>To what extent did you meet your OKRs in the previous 6 months?</a:t>
            </a:r>
            <a:endParaRPr sz="1200">
              <a:solidFill>
                <a:schemeClr val="dk1"/>
              </a:solidFill>
              <a:latin typeface="Roboto Light"/>
              <a:ea typeface="Roboto Light"/>
              <a:cs typeface="Roboto Light"/>
              <a:sym typeface="Roboto Light"/>
            </a:endParaRPr>
          </a:p>
          <a:p>
            <a:pPr indent="-304800" lvl="1" marL="914400" rtl="0" algn="l">
              <a:spcBef>
                <a:spcPts val="0"/>
              </a:spcBef>
              <a:spcAft>
                <a:spcPts val="0"/>
              </a:spcAft>
              <a:buClr>
                <a:schemeClr val="dk1"/>
              </a:buClr>
              <a:buSzPts val="1200"/>
              <a:buFont typeface="Roboto Light"/>
              <a:buAutoNum type="alphaLcPeriod"/>
            </a:pPr>
            <a:r>
              <a:rPr i="1" lang="en" sz="1200">
                <a:solidFill>
                  <a:schemeClr val="dk1"/>
                </a:solidFill>
                <a:latin typeface="Roboto Light"/>
                <a:ea typeface="Roboto Light"/>
                <a:cs typeface="Roboto Light"/>
                <a:sym typeface="Roboto Light"/>
              </a:rPr>
              <a:t>Change to a rating question</a:t>
            </a:r>
            <a:endParaRPr i="1" sz="1200">
              <a:solidFill>
                <a:schemeClr val="dk1"/>
              </a:solidFill>
              <a:latin typeface="Roboto Light"/>
              <a:ea typeface="Roboto Light"/>
              <a:cs typeface="Roboto Light"/>
              <a:sym typeface="Roboto Light"/>
            </a:endParaRPr>
          </a:p>
          <a:p>
            <a:pPr indent="-304800" lvl="1" marL="914400" rtl="0" algn="l">
              <a:spcBef>
                <a:spcPts val="0"/>
              </a:spcBef>
              <a:spcAft>
                <a:spcPts val="0"/>
              </a:spcAft>
              <a:buClr>
                <a:schemeClr val="dk1"/>
              </a:buClr>
              <a:buSzPts val="1200"/>
              <a:buFont typeface="Roboto Light"/>
              <a:buAutoNum type="alphaLcPeriod"/>
            </a:pPr>
            <a:r>
              <a:rPr i="1" lang="en" sz="1200">
                <a:solidFill>
                  <a:schemeClr val="dk1"/>
                </a:solidFill>
                <a:latin typeface="Roboto Light"/>
                <a:ea typeface="Roboto Light"/>
                <a:cs typeface="Roboto Light"/>
                <a:sym typeface="Roboto Light"/>
              </a:rPr>
              <a:t>Define what meet OKRs means and list it out in the description</a:t>
            </a:r>
            <a:endParaRPr i="1"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latin typeface="Roboto Light"/>
                <a:ea typeface="Roboto Light"/>
                <a:cs typeface="Roboto Light"/>
                <a:sym typeface="Roboto Light"/>
              </a:rPr>
              <a:t>How did you progress towards your career goals in the previous 6 months?</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latin typeface="Roboto Light"/>
                <a:ea typeface="Roboto Light"/>
                <a:cs typeface="Roboto Light"/>
                <a:sym typeface="Roboto Light"/>
              </a:rPr>
              <a:t>What skills, and/or behaviors would you like to improve in the next 6 months to move you closer to your goals?</a:t>
            </a:r>
            <a:endParaRPr sz="1200">
              <a:solidFill>
                <a:schemeClr val="dk1"/>
              </a:solidFill>
              <a:latin typeface="Roboto Light"/>
              <a:ea typeface="Roboto Light"/>
              <a:cs typeface="Roboto Light"/>
              <a:sym typeface="Roboto Light"/>
            </a:endParaRPr>
          </a:p>
          <a:p>
            <a:pPr indent="-304800" lvl="0" marL="457200" rtl="0" algn="l">
              <a:spcBef>
                <a:spcPts val="0"/>
              </a:spcBef>
              <a:spcAft>
                <a:spcPts val="0"/>
              </a:spcAft>
              <a:buClr>
                <a:schemeClr val="dk1"/>
              </a:buClr>
              <a:buSzPts val="1200"/>
              <a:buFont typeface="Roboto"/>
              <a:buAutoNum type="arabicPeriod"/>
            </a:pPr>
            <a:r>
              <a:rPr lang="en" sz="1200">
                <a:solidFill>
                  <a:schemeClr val="dk1"/>
                </a:solidFill>
                <a:latin typeface="Roboto Light"/>
                <a:ea typeface="Roboto Light"/>
                <a:cs typeface="Roboto Light"/>
                <a:sym typeface="Roboto Light"/>
              </a:rPr>
              <a:t>What Directive value resonates with you most and why? Provide an example.</a:t>
            </a:r>
            <a:endParaRPr sz="1200">
              <a:solidFill>
                <a:schemeClr val="dk1"/>
              </a:solidFill>
              <a:latin typeface="Roboto Light"/>
              <a:ea typeface="Roboto Light"/>
              <a:cs typeface="Roboto Light"/>
              <a:sym typeface="Robot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72" name="Shape 272"/>
        <p:cNvGrpSpPr/>
        <p:nvPr/>
      </p:nvGrpSpPr>
      <p:grpSpPr>
        <a:xfrm>
          <a:off x="0" y="0"/>
          <a:ext cx="0" cy="0"/>
          <a:chOff x="0" y="0"/>
          <a:chExt cx="0" cy="0"/>
        </a:xfrm>
      </p:grpSpPr>
      <p:pic>
        <p:nvPicPr>
          <p:cNvPr id="273" name="Google Shape;273;p41"/>
          <p:cNvPicPr preferRelativeResize="0"/>
          <p:nvPr/>
        </p:nvPicPr>
        <p:blipFill>
          <a:blip r:embed="rId4">
            <a:alphaModFix amt="49000"/>
          </a:blip>
          <a:stretch>
            <a:fillRect/>
          </a:stretch>
        </p:blipFill>
        <p:spPr>
          <a:xfrm>
            <a:off x="1089024" y="340450"/>
            <a:ext cx="3192776" cy="661251"/>
          </a:xfrm>
          <a:prstGeom prst="rect">
            <a:avLst/>
          </a:prstGeom>
          <a:noFill/>
          <a:ln>
            <a:noFill/>
          </a:ln>
        </p:spPr>
      </p:pic>
      <p:sp>
        <p:nvSpPr>
          <p:cNvPr id="274" name="Google Shape;274;p41"/>
          <p:cNvSpPr txBox="1"/>
          <p:nvPr>
            <p:ph type="title"/>
          </p:nvPr>
        </p:nvSpPr>
        <p:spPr>
          <a:xfrm>
            <a:off x="311700" y="261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Merriweather"/>
                <a:ea typeface="Merriweather"/>
                <a:cs typeface="Merriweather"/>
                <a:sym typeface="Merriweather"/>
              </a:rPr>
              <a:t>Bi-Annual </a:t>
            </a:r>
            <a:r>
              <a:rPr b="1" lang="en" sz="2200">
                <a:latin typeface="Merriweather"/>
                <a:ea typeface="Merriweather"/>
                <a:cs typeface="Merriweather"/>
                <a:sym typeface="Merriweather"/>
              </a:rPr>
              <a:t>Performance </a:t>
            </a:r>
            <a:r>
              <a:rPr b="1" lang="en" sz="2200">
                <a:latin typeface="Merriweather"/>
                <a:ea typeface="Merriweather"/>
                <a:cs typeface="Merriweather"/>
                <a:sym typeface="Merriweather"/>
              </a:rPr>
              <a:t>Review, Manager (*Downward) Feedback</a:t>
            </a:r>
            <a:endParaRPr b="1" sz="2200">
              <a:latin typeface="Merriweather"/>
              <a:ea typeface="Merriweather"/>
              <a:cs typeface="Merriweather"/>
              <a:sym typeface="Merriweather"/>
            </a:endParaRPr>
          </a:p>
        </p:txBody>
      </p:sp>
      <p:sp>
        <p:nvSpPr>
          <p:cNvPr id="275" name="Google Shape;275;p41"/>
          <p:cNvSpPr txBox="1"/>
          <p:nvPr>
            <p:ph idx="1" type="body"/>
          </p:nvPr>
        </p:nvSpPr>
        <p:spPr>
          <a:xfrm>
            <a:off x="311700" y="1405750"/>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E1523D"/>
                </a:solidFill>
                <a:highlight>
                  <a:schemeClr val="lt1"/>
                </a:highlight>
                <a:latin typeface="Roboto"/>
                <a:ea typeface="Roboto"/>
                <a:cs typeface="Roboto"/>
                <a:sym typeface="Roboto"/>
              </a:rPr>
              <a:t>CURRENT Questions</a:t>
            </a:r>
            <a:endParaRPr b="1" sz="1100">
              <a:solidFill>
                <a:srgbClr val="E1523D"/>
              </a:solidFill>
              <a:highlight>
                <a:schemeClr val="lt1"/>
              </a:highlight>
              <a:latin typeface="Roboto"/>
              <a:ea typeface="Roboto"/>
              <a:cs typeface="Roboto"/>
              <a:sym typeface="Roboto"/>
            </a:endParaRPr>
          </a:p>
          <a:p>
            <a:pPr indent="0" lvl="0" marL="0" rtl="0" algn="l">
              <a:spcBef>
                <a:spcPts val="0"/>
              </a:spcBef>
              <a:spcAft>
                <a:spcPts val="0"/>
              </a:spcAft>
              <a:buNone/>
            </a:pPr>
            <a:r>
              <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To what degree did this person meet your expectations for their performance? Did they accomplish their goals?</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In what areas do you see the most potential for this person? How do you hope to see this person grow over the next 3-6 months?</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To what extent does this person embody our company values? Be as specific as you can.</a:t>
            </a:r>
            <a:endParaRPr sz="1100">
              <a:solidFill>
                <a:schemeClr val="dk1"/>
              </a:solidFill>
              <a:highlight>
                <a:schemeClr val="lt1"/>
              </a:highlight>
              <a:latin typeface="Roboto Light"/>
              <a:ea typeface="Roboto Light"/>
              <a:cs typeface="Roboto Light"/>
              <a:sym typeface="Roboto Light"/>
            </a:endParaRPr>
          </a:p>
        </p:txBody>
      </p:sp>
      <p:sp>
        <p:nvSpPr>
          <p:cNvPr id="276" name="Google Shape;276;p41"/>
          <p:cNvSpPr/>
          <p:nvPr/>
        </p:nvSpPr>
        <p:spPr>
          <a:xfrm>
            <a:off x="0" y="4956950"/>
            <a:ext cx="9144000" cy="186600"/>
          </a:xfrm>
          <a:prstGeom prst="rect">
            <a:avLst/>
          </a:prstGeom>
          <a:solidFill>
            <a:srgbClr val="E152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41"/>
          <p:cNvPicPr preferRelativeResize="0"/>
          <p:nvPr/>
        </p:nvPicPr>
        <p:blipFill>
          <a:blip r:embed="rId5">
            <a:alphaModFix/>
          </a:blip>
          <a:stretch>
            <a:fillRect/>
          </a:stretch>
        </p:blipFill>
        <p:spPr>
          <a:xfrm>
            <a:off x="8014225" y="4595700"/>
            <a:ext cx="918443" cy="186600"/>
          </a:xfrm>
          <a:prstGeom prst="rect">
            <a:avLst/>
          </a:prstGeom>
          <a:noFill/>
          <a:ln>
            <a:noFill/>
          </a:ln>
        </p:spPr>
      </p:pic>
      <p:sp>
        <p:nvSpPr>
          <p:cNvPr id="278" name="Google Shape;278;p41"/>
          <p:cNvSpPr/>
          <p:nvPr/>
        </p:nvSpPr>
        <p:spPr>
          <a:xfrm>
            <a:off x="424175" y="1069800"/>
            <a:ext cx="390900" cy="30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1"/>
          <p:cNvSpPr txBox="1"/>
          <p:nvPr>
            <p:ph idx="2" type="body"/>
          </p:nvPr>
        </p:nvSpPr>
        <p:spPr>
          <a:xfrm>
            <a:off x="4832400" y="1405750"/>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E1523D"/>
                </a:solidFill>
                <a:highlight>
                  <a:schemeClr val="lt1"/>
                </a:highlight>
                <a:latin typeface="Roboto"/>
                <a:ea typeface="Roboto"/>
                <a:cs typeface="Roboto"/>
                <a:sym typeface="Roboto"/>
              </a:rPr>
              <a:t>V1 PROPOSED </a:t>
            </a:r>
            <a:r>
              <a:rPr b="1" lang="en" sz="1100">
                <a:solidFill>
                  <a:srgbClr val="E1523D"/>
                </a:solidFill>
                <a:highlight>
                  <a:schemeClr val="lt1"/>
                </a:highlight>
                <a:latin typeface="Roboto"/>
                <a:ea typeface="Roboto"/>
                <a:cs typeface="Roboto"/>
                <a:sym typeface="Roboto"/>
              </a:rPr>
              <a:t>Questions</a:t>
            </a:r>
            <a:endParaRPr b="1" sz="1100">
              <a:solidFill>
                <a:srgbClr val="E1523D"/>
              </a:solidFill>
              <a:highlight>
                <a:schemeClr val="lt1"/>
              </a:highlight>
              <a:latin typeface="Roboto"/>
              <a:ea typeface="Roboto"/>
              <a:cs typeface="Roboto"/>
              <a:sym typeface="Roboto"/>
            </a:endParaRPr>
          </a:p>
          <a:p>
            <a:pPr indent="-298450" lvl="0" marL="457200" rtl="0" algn="l">
              <a:spcBef>
                <a:spcPts val="160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What </a:t>
            </a:r>
            <a:r>
              <a:rPr lang="en" sz="1100">
                <a:solidFill>
                  <a:schemeClr val="dk1"/>
                </a:solidFill>
                <a:highlight>
                  <a:schemeClr val="lt1"/>
                </a:highlight>
                <a:latin typeface="Roboto Light"/>
                <a:ea typeface="Roboto Light"/>
                <a:cs typeface="Roboto Light"/>
                <a:sym typeface="Roboto Light"/>
              </a:rPr>
              <a:t>were their wins and accomplishments from the previous 6 months?</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latin typeface="Roboto Light"/>
                <a:ea typeface="Roboto Light"/>
                <a:cs typeface="Roboto Light"/>
                <a:sym typeface="Roboto Light"/>
              </a:rPr>
              <a:t>What could have gone better in the previous 6 months?</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To what extent did they meet their OKRs in the previous 6 months?</a:t>
            </a:r>
            <a:endParaRPr sz="1100">
              <a:solidFill>
                <a:schemeClr val="dk1"/>
              </a:solidFill>
              <a:highlight>
                <a:schemeClr val="lt1"/>
              </a:highlight>
              <a:latin typeface="Roboto Light"/>
              <a:ea typeface="Roboto Light"/>
              <a:cs typeface="Roboto Light"/>
              <a:sym typeface="Roboto Light"/>
            </a:endParaRPr>
          </a:p>
          <a:p>
            <a:pPr indent="-298450" lvl="1" marL="914400" rtl="0" algn="l">
              <a:spcBef>
                <a:spcPts val="0"/>
              </a:spcBef>
              <a:spcAft>
                <a:spcPts val="0"/>
              </a:spcAft>
              <a:buClr>
                <a:schemeClr val="dk1"/>
              </a:buClr>
              <a:buSzPts val="1100"/>
              <a:buFont typeface="Roboto Light"/>
              <a:buAutoNum type="alphaLcPeriod"/>
            </a:pPr>
            <a:r>
              <a:rPr i="1" lang="en" sz="1100">
                <a:solidFill>
                  <a:schemeClr val="dk1"/>
                </a:solidFill>
                <a:highlight>
                  <a:schemeClr val="lt1"/>
                </a:highlight>
                <a:latin typeface="Roboto Light"/>
                <a:ea typeface="Roboto Light"/>
                <a:cs typeface="Roboto Light"/>
                <a:sym typeface="Roboto Light"/>
              </a:rPr>
              <a:t>Change to a rating question</a:t>
            </a:r>
            <a:endParaRPr i="1" sz="1100">
              <a:solidFill>
                <a:schemeClr val="dk1"/>
              </a:solidFill>
              <a:highlight>
                <a:schemeClr val="lt1"/>
              </a:highlight>
              <a:latin typeface="Roboto Light"/>
              <a:ea typeface="Roboto Light"/>
              <a:cs typeface="Roboto Light"/>
              <a:sym typeface="Roboto Light"/>
            </a:endParaRPr>
          </a:p>
          <a:p>
            <a:pPr indent="-298450" lvl="1" marL="914400" rtl="0" algn="l">
              <a:spcBef>
                <a:spcPts val="0"/>
              </a:spcBef>
              <a:spcAft>
                <a:spcPts val="0"/>
              </a:spcAft>
              <a:buClr>
                <a:schemeClr val="dk1"/>
              </a:buClr>
              <a:buSzPts val="1100"/>
              <a:buFont typeface="Roboto Light"/>
              <a:buAutoNum type="alphaLcPeriod"/>
            </a:pPr>
            <a:r>
              <a:rPr i="1" lang="en" sz="1100">
                <a:solidFill>
                  <a:schemeClr val="dk1"/>
                </a:solidFill>
                <a:highlight>
                  <a:schemeClr val="lt1"/>
                </a:highlight>
                <a:latin typeface="Roboto Light"/>
                <a:ea typeface="Roboto Light"/>
                <a:cs typeface="Roboto Light"/>
                <a:sym typeface="Roboto Light"/>
              </a:rPr>
              <a:t>Define what meets means</a:t>
            </a:r>
            <a:endParaRPr i="1"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What areas of progress have you observed over the previous 6 months?</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What skills, and/or behaviors would you like to see them improve in the next 6 months to progress in their career?</a:t>
            </a:r>
            <a:endParaRPr sz="1100">
              <a:solidFill>
                <a:schemeClr val="dk1"/>
              </a:solidFill>
              <a:highlight>
                <a:schemeClr val="lt1"/>
              </a:highlight>
              <a:latin typeface="Roboto Light"/>
              <a:ea typeface="Roboto Light"/>
              <a:cs typeface="Roboto Light"/>
              <a:sym typeface="Roboto Light"/>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chemeClr val="lt1"/>
                </a:highlight>
                <a:latin typeface="Roboto Light"/>
                <a:ea typeface="Roboto Light"/>
                <a:cs typeface="Roboto Light"/>
                <a:sym typeface="Roboto Light"/>
              </a:rPr>
              <a:t>What Directive value did this person exhibit most in the previous 6 months? Provide an example.</a:t>
            </a:r>
            <a:endParaRPr sz="1100">
              <a:solidFill>
                <a:schemeClr val="dk1"/>
              </a:solidFill>
              <a:highlight>
                <a:schemeClr val="lt1"/>
              </a:highlight>
              <a:latin typeface="Roboto Light"/>
              <a:ea typeface="Roboto Light"/>
              <a:cs typeface="Roboto Light"/>
              <a:sym typeface="Roboto Light"/>
            </a:endParaRPr>
          </a:p>
        </p:txBody>
      </p:sp>
      <p:sp>
        <p:nvSpPr>
          <p:cNvPr id="280" name="Google Shape;280;p41"/>
          <p:cNvSpPr txBox="1"/>
          <p:nvPr/>
        </p:nvSpPr>
        <p:spPr>
          <a:xfrm>
            <a:off x="311700" y="4421950"/>
            <a:ext cx="679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oboto Light"/>
                <a:ea typeface="Roboto Light"/>
                <a:cs typeface="Roboto Light"/>
                <a:sym typeface="Roboto Light"/>
              </a:rPr>
              <a:t>*Downward means Manager </a:t>
            </a:r>
            <a:r>
              <a:rPr i="1" lang="en" sz="1200">
                <a:latin typeface="Roboto Light"/>
                <a:ea typeface="Roboto Light"/>
                <a:cs typeface="Roboto Light"/>
                <a:sym typeface="Roboto Light"/>
              </a:rPr>
              <a:t>reviewing</a:t>
            </a:r>
            <a:r>
              <a:rPr i="1" lang="en" sz="1200">
                <a:latin typeface="Roboto Light"/>
                <a:ea typeface="Roboto Light"/>
                <a:cs typeface="Roboto Light"/>
                <a:sym typeface="Roboto Light"/>
              </a:rPr>
              <a:t> a Direct Report</a:t>
            </a:r>
            <a:endParaRPr i="1" sz="1200">
              <a:latin typeface="Roboto Light"/>
              <a:ea typeface="Roboto Light"/>
              <a:cs typeface="Roboto Light"/>
              <a:sym typeface="Robot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