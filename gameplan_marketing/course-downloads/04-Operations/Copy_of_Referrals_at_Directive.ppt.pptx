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edium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edium-regular.fntdata"/><Relationship Id="rId14" Type="http://schemas.openxmlformats.org/officeDocument/2006/relationships/slide" Target="slides/slide9.xml"/><Relationship Id="rId17" Type="http://schemas.openxmlformats.org/officeDocument/2006/relationships/font" Target="fonts/RobotoMedium-italic.fntdata"/><Relationship Id="rId16" Type="http://schemas.openxmlformats.org/officeDocument/2006/relationships/font" Target="fonts/Roboto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font" Target="fonts/Robo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53b3bd2c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53b3bd2c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723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150"/>
              <a:buNone/>
            </a:pPr>
            <a:r>
              <a:t/>
            </a:r>
            <a:endParaRPr sz="1150">
              <a:solidFill>
                <a:srgbClr val="D1D2D3"/>
              </a:solidFill>
              <a:highlight>
                <a:srgbClr val="1A1D2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b82b73ac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b82b73a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50be13a2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50be13a2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f940eb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1f940eb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f940ebe7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f940ebe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1f940ebe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1f940ebe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1f940ebe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1f940ebe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fcfcf47f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fcfcf47f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723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150"/>
              <a:buNone/>
            </a:pPr>
            <a:r>
              <a:t/>
            </a:r>
            <a:endParaRPr sz="1150">
              <a:solidFill>
                <a:srgbClr val="D1D2D3"/>
              </a:solidFill>
              <a:highlight>
                <a:srgbClr val="1A1D2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6593595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6593595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hyperlink" Target="https://docs.google.com/forms/d/e/1FAIpQLSdLiolP63kGXeQoODsI7cYrnIBHj8RC_x3YiDWvGT9G7n-2Bg/viewform" TargetMode="External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hyperlink" Target="https://docs.google.com/spreadsheets/d/1AHS1Keb8vB33cCCJoKEk7ZpKCLEeuDZ1N1lD7WlLriw/edit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s://docs.google.com/spreadsheets/d/1tXgHYaXUtOPFYu3E6nfm7X_af-JdSVVpTz51j8oAe24/edit#gid=628989943" TargetMode="External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02800" y="999450"/>
            <a:ext cx="8138400" cy="24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Biggest Lever &amp; Lowest Hanging Fruit:</a:t>
            </a:r>
            <a:endParaRPr sz="48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Referrals</a:t>
            </a: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8670" l="0" r="61369" t="69968"/>
          <a:stretch/>
        </p:blipFill>
        <p:spPr>
          <a:xfrm>
            <a:off x="6254150" y="0"/>
            <a:ext cx="2256398" cy="7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2437" y="4531562"/>
            <a:ext cx="1496325" cy="30646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0" y="4956950"/>
            <a:ext cx="9144000" cy="1866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8670" l="0" r="61369" t="69968"/>
          <a:stretch/>
        </p:blipFill>
        <p:spPr>
          <a:xfrm>
            <a:off x="-146325" y="4153025"/>
            <a:ext cx="2256398" cy="7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6">
            <a:alphaModFix/>
          </a:blip>
          <a:srcRect b="38355" l="33935" r="32603" t="30529"/>
          <a:stretch/>
        </p:blipFill>
        <p:spPr>
          <a:xfrm>
            <a:off x="684624" y="3095800"/>
            <a:ext cx="1376923" cy="72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7">
            <a:alphaModFix/>
          </a:blip>
          <a:srcRect b="17142" l="36831" r="32480" t="18094"/>
          <a:stretch/>
        </p:blipFill>
        <p:spPr>
          <a:xfrm rot="-900034">
            <a:off x="7488340" y="3415872"/>
            <a:ext cx="308720" cy="366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1540775" y="1002025"/>
            <a:ext cx="53040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AutoNum type="arabicPeriod"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Big Picture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edium"/>
              <a:buAutoNum type="arabicPeriod"/>
            </a:pPr>
            <a:r>
              <a:rPr lang="en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Referral Form</a:t>
            </a:r>
            <a:endParaRPr sz="1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edium"/>
              <a:buAutoNum type="arabicPeriod"/>
            </a:pPr>
            <a:r>
              <a:rPr lang="en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Referral Tracker</a:t>
            </a:r>
            <a:endParaRPr sz="1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Medium"/>
              <a:buAutoNum type="arabicPeriod"/>
            </a:pPr>
            <a:r>
              <a:rPr lang="en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Referral Compensation</a:t>
            </a:r>
            <a:endParaRPr sz="1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edium"/>
              <a:buAutoNum type="arabicPeriod"/>
            </a:pPr>
            <a:r>
              <a:rPr lang="en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Referral Contest</a:t>
            </a:r>
            <a:endParaRPr sz="1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595950" y="299400"/>
            <a:ext cx="3769500" cy="5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0" y="4956950"/>
            <a:ext cx="9144000" cy="1866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9400" y="-659176"/>
            <a:ext cx="1661202" cy="16612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4821450" y="1482300"/>
            <a:ext cx="390900" cy="3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4956950"/>
            <a:ext cx="9144000" cy="1866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2535" y="4602775"/>
            <a:ext cx="841825" cy="1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724800" y="1034813"/>
            <a:ext cx="7694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Referrals have historically had our highest close rate and largest AOV of all channels. </a:t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Close rate = 35%</a:t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Contract Value for On-Going = $185,900</a:t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Contract Value for Projects = $24,100</a:t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" name="Google Shape;77;p15"/>
          <p:cNvSpPr txBox="1"/>
          <p:nvPr>
            <p:ph type="ctrTitle"/>
          </p:nvPr>
        </p:nvSpPr>
        <p:spPr>
          <a:xfrm>
            <a:off x="2285100" y="110425"/>
            <a:ext cx="4573800" cy="9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Big Picture</a:t>
            </a:r>
            <a:endParaRPr sz="36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450" y="0"/>
            <a:ext cx="9144000" cy="104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57200" y="311475"/>
            <a:ext cx="70188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Referral Form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68355" y="4686300"/>
            <a:ext cx="918443" cy="1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0" y="-7"/>
            <a:ext cx="9144000" cy="1371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953100" y="4686300"/>
            <a:ext cx="12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Form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7126" y="1194300"/>
            <a:ext cx="2950638" cy="33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450" y="0"/>
            <a:ext cx="9144000" cy="104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311475"/>
            <a:ext cx="70188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Referral Tracker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68355" y="4686300"/>
            <a:ext cx="918443" cy="1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0" y="-7"/>
            <a:ext cx="9144000" cy="1371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900" y="1170750"/>
            <a:ext cx="6608200" cy="338669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3072450" y="4579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Link to Sheet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50" y="0"/>
            <a:ext cx="9144000" cy="104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457200" y="311475"/>
            <a:ext cx="70188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Referral Compensation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68355" y="4686300"/>
            <a:ext cx="918443" cy="1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0" y="-7"/>
            <a:ext cx="9144000" cy="1371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3072450" y="4579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Sheet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989813"/>
            <a:ext cx="8839196" cy="116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450" y="0"/>
            <a:ext cx="9144000" cy="104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457200" y="311475"/>
            <a:ext cx="70188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Referral Contest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68355" y="4686300"/>
            <a:ext cx="918443" cy="1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0" y="-7"/>
            <a:ext cx="9144000" cy="1371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410700" y="1496438"/>
            <a:ext cx="83235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" sz="1900">
                <a:solidFill>
                  <a:schemeClr val="dk1"/>
                </a:solidFill>
              </a:rPr>
              <a:t>The team member with the most referrals each week will win $500 and be announced at Office Hours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" sz="1900">
                <a:solidFill>
                  <a:schemeClr val="dk1"/>
                </a:solidFill>
              </a:rPr>
              <a:t>If there is a tie, the $500 pushes to the next week. So, if you win the next week it’s worth $1,000 and so on.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" sz="1900">
                <a:solidFill>
                  <a:schemeClr val="dk1"/>
                </a:solidFill>
              </a:rPr>
              <a:t>The person with the most referrals earned at the end of the month will win an additional $1,000. If there’s a tie, the $1,000 will be shared equally.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591950" y="4527900"/>
            <a:ext cx="596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Fine print: All referrals must be a SaaS company that we are not currently working with or not currently an open </a:t>
            </a:r>
            <a:r>
              <a:rPr i="1" lang="en">
                <a:solidFill>
                  <a:schemeClr val="dk1"/>
                </a:solidFill>
              </a:rPr>
              <a:t>opportunity,</a:t>
            </a:r>
            <a:r>
              <a:rPr i="1" lang="en">
                <a:solidFill>
                  <a:schemeClr val="dk1"/>
                </a:solidFill>
              </a:rPr>
              <a:t> to count.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 rotWithShape="1">
          <a:blip r:embed="rId4">
            <a:alphaModFix/>
          </a:blip>
          <a:srcRect b="8670" l="0" r="61369" t="69968"/>
          <a:stretch/>
        </p:blipFill>
        <p:spPr>
          <a:xfrm>
            <a:off x="6254150" y="0"/>
            <a:ext cx="2256398" cy="7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2437" y="4531562"/>
            <a:ext cx="1496325" cy="306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/>
          <p:nvPr/>
        </p:nvSpPr>
        <p:spPr>
          <a:xfrm>
            <a:off x="0" y="4956950"/>
            <a:ext cx="9144000" cy="1866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8670" l="0" r="61369" t="69968"/>
          <a:stretch/>
        </p:blipFill>
        <p:spPr>
          <a:xfrm>
            <a:off x="-146325" y="4153025"/>
            <a:ext cx="2256398" cy="7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-676125" y="4743300"/>
            <a:ext cx="67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static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6488" y="666263"/>
            <a:ext cx="5991025" cy="3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5338925" y="3749005"/>
            <a:ext cx="3805074" cy="167389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500"/>
              </a:rPr>
              <a:t>You</a:t>
            </a:r>
          </a:p>
        </p:txBody>
      </p:sp>
      <p:sp>
        <p:nvSpPr>
          <p:cNvPr id="133" name="Google Shape;133;p21"/>
          <p:cNvSpPr/>
          <p:nvPr/>
        </p:nvSpPr>
        <p:spPr>
          <a:xfrm>
            <a:off x="-204350" y="-701800"/>
            <a:ext cx="5713927" cy="15711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500"/>
              </a:rPr>
              <a:t>Thank</a:t>
            </a: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91800" y="3748988"/>
            <a:ext cx="2053675" cy="20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/>
          <p:nvPr/>
        </p:nvSpPr>
        <p:spPr>
          <a:xfrm>
            <a:off x="0" y="4956950"/>
            <a:ext cx="9144000" cy="186600"/>
          </a:xfrm>
          <a:prstGeom prst="rect">
            <a:avLst/>
          </a:prstGeom>
          <a:solidFill>
            <a:srgbClr val="E152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type="ctrTitle"/>
          </p:nvPr>
        </p:nvSpPr>
        <p:spPr>
          <a:xfrm>
            <a:off x="2720250" y="2193900"/>
            <a:ext cx="3703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1" sz="4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2400" y="-943062"/>
            <a:ext cx="2053675" cy="20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